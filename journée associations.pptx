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6" r:id="rId3"/>
    <p:sldId id="258" r:id="rId4"/>
    <p:sldId id="260" r:id="rId5"/>
    <p:sldId id="259" r:id="rId6"/>
    <p:sldId id="261" r:id="rId7"/>
    <p:sldId id="262" r:id="rId8"/>
    <p:sldId id="263" r:id="rId9"/>
    <p:sldId id="264" r:id="rId10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Style moyen 2 - Accentuation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941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B83DA-9088-40B6-9C1B-87709E3D5B90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447E0-B1FA-4FBF-B0E6-591D1D89DD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78193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B83DA-9088-40B6-9C1B-87709E3D5B90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447E0-B1FA-4FBF-B0E6-591D1D89DD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10838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B83DA-9088-40B6-9C1B-87709E3D5B90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447E0-B1FA-4FBF-B0E6-591D1D89DD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41937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B83DA-9088-40B6-9C1B-87709E3D5B90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447E0-B1FA-4FBF-B0E6-591D1D89DD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83913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B83DA-9088-40B6-9C1B-87709E3D5B90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447E0-B1FA-4FBF-B0E6-591D1D89DD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075484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B83DA-9088-40B6-9C1B-87709E3D5B90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447E0-B1FA-4FBF-B0E6-591D1D89DD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364836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B83DA-9088-40B6-9C1B-87709E3D5B90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447E0-B1FA-4FBF-B0E6-591D1D89DD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396202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B83DA-9088-40B6-9C1B-87709E3D5B90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447E0-B1FA-4FBF-B0E6-591D1D89DD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479990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B83DA-9088-40B6-9C1B-87709E3D5B90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447E0-B1FA-4FBF-B0E6-591D1D89DD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23331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B83DA-9088-40B6-9C1B-87709E3D5B90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447E0-B1FA-4FBF-B0E6-591D1D89DD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75212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B83DA-9088-40B6-9C1B-87709E3D5B90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447E0-B1FA-4FBF-B0E6-591D1D89DD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807646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1B83DA-9088-40B6-9C1B-87709E3D5B90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A447E0-B1FA-4FBF-B0E6-591D1D89DD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73897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2A364E15-C167-48FA-8498-519ECE5445CC}"/>
              </a:ext>
            </a:extLst>
          </p:cNvPr>
          <p:cNvSpPr txBox="1"/>
          <p:nvPr/>
        </p:nvSpPr>
        <p:spPr>
          <a:xfrm>
            <a:off x="364198" y="934620"/>
            <a:ext cx="3459892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dirty="0">
                <a:solidFill>
                  <a:srgbClr val="212529"/>
                </a:solidFill>
                <a:latin typeface="system-ui"/>
              </a:rPr>
              <a:t>Vélo – 49</a:t>
            </a:r>
          </a:p>
          <a:p>
            <a:pPr algn="l"/>
            <a:r>
              <a:rPr lang="fr-FR" dirty="0">
                <a:solidFill>
                  <a:srgbClr val="212529"/>
                </a:solidFill>
                <a:latin typeface="system-ui"/>
              </a:rPr>
              <a:t>Aspirateur – 39</a:t>
            </a:r>
          </a:p>
          <a:p>
            <a:pPr algn="l"/>
            <a:r>
              <a:rPr lang="fr-FR" dirty="0">
                <a:solidFill>
                  <a:srgbClr val="212529"/>
                </a:solidFill>
                <a:latin typeface="system-ui"/>
              </a:rPr>
              <a:t>Machine à café – 29</a:t>
            </a:r>
          </a:p>
          <a:p>
            <a:pPr algn="l"/>
            <a:r>
              <a:rPr lang="fr-FR" dirty="0">
                <a:solidFill>
                  <a:srgbClr val="212529"/>
                </a:solidFill>
                <a:latin typeface="system-ui"/>
              </a:rPr>
              <a:t>Ordinateur Portable – 27</a:t>
            </a:r>
          </a:p>
          <a:p>
            <a:pPr algn="l"/>
            <a:r>
              <a:rPr lang="fr-FR" dirty="0">
                <a:solidFill>
                  <a:srgbClr val="212529"/>
                </a:solidFill>
                <a:latin typeface="system-ui"/>
              </a:rPr>
              <a:t>Grille-pain – 25</a:t>
            </a:r>
          </a:p>
          <a:p>
            <a:pPr algn="l"/>
            <a:r>
              <a:rPr lang="fr-FR" dirty="0">
                <a:solidFill>
                  <a:srgbClr val="212529"/>
                </a:solidFill>
                <a:latin typeface="system-ui"/>
              </a:rPr>
              <a:t>Lampe – 17</a:t>
            </a:r>
          </a:p>
          <a:p>
            <a:pPr algn="l"/>
            <a:r>
              <a:rPr lang="fr-FR" dirty="0">
                <a:solidFill>
                  <a:srgbClr val="212529"/>
                </a:solidFill>
                <a:latin typeface="system-ui"/>
              </a:rPr>
              <a:t>Téléphone – 14</a:t>
            </a:r>
          </a:p>
          <a:p>
            <a:pPr algn="l"/>
            <a:r>
              <a:rPr lang="fr-FR" dirty="0">
                <a:solidFill>
                  <a:srgbClr val="212529"/>
                </a:solidFill>
                <a:latin typeface="system-ui"/>
              </a:rPr>
              <a:t>Imprimante – 14</a:t>
            </a:r>
          </a:p>
          <a:p>
            <a:pPr algn="l"/>
            <a:r>
              <a:rPr lang="fr-FR" dirty="0">
                <a:solidFill>
                  <a:srgbClr val="212529"/>
                </a:solidFill>
                <a:latin typeface="system-ui"/>
              </a:rPr>
              <a:t>Centrale vapeur – 12</a:t>
            </a:r>
          </a:p>
          <a:p>
            <a:pPr algn="l"/>
            <a:r>
              <a:rPr lang="fr-FR" dirty="0">
                <a:solidFill>
                  <a:srgbClr val="212529"/>
                </a:solidFill>
                <a:latin typeface="system-ui"/>
              </a:rPr>
              <a:t>Téléviseur – 12</a:t>
            </a:r>
          </a:p>
          <a:p>
            <a:pPr algn="l"/>
            <a:r>
              <a:rPr lang="fr-FR" dirty="0">
                <a:solidFill>
                  <a:srgbClr val="212529"/>
                </a:solidFill>
                <a:latin typeface="system-ui"/>
              </a:rPr>
              <a:t>Bouilloire – 12</a:t>
            </a:r>
          </a:p>
          <a:p>
            <a:pPr algn="l"/>
            <a:r>
              <a:rPr lang="fr-FR" dirty="0">
                <a:solidFill>
                  <a:srgbClr val="212529"/>
                </a:solidFill>
                <a:latin typeface="system-ui"/>
              </a:rPr>
              <a:t>Casque audio – 11</a:t>
            </a:r>
          </a:p>
          <a:p>
            <a:pPr algn="l"/>
            <a:r>
              <a:rPr lang="fr-FR" dirty="0">
                <a:solidFill>
                  <a:srgbClr val="212529"/>
                </a:solidFill>
                <a:latin typeface="system-ui"/>
              </a:rPr>
              <a:t>Nettoyeur haute pression – 10</a:t>
            </a:r>
          </a:p>
          <a:p>
            <a:pPr algn="l"/>
            <a:r>
              <a:rPr lang="fr-FR" dirty="0">
                <a:solidFill>
                  <a:srgbClr val="212529"/>
                </a:solidFill>
                <a:latin typeface="system-ui"/>
              </a:rPr>
              <a:t>Robot de cuisine – 10</a:t>
            </a:r>
          </a:p>
          <a:p>
            <a:pPr algn="l"/>
            <a:r>
              <a:rPr lang="fr-FR" dirty="0">
                <a:solidFill>
                  <a:srgbClr val="212529"/>
                </a:solidFill>
                <a:latin typeface="system-ui"/>
              </a:rPr>
              <a:t>Mixeur – 9</a:t>
            </a:r>
          </a:p>
          <a:p>
            <a:pPr algn="l"/>
            <a:r>
              <a:rPr lang="fr-FR" dirty="0">
                <a:solidFill>
                  <a:srgbClr val="212529"/>
                </a:solidFill>
                <a:latin typeface="system-ui"/>
              </a:rPr>
              <a:t>Fer à repasser – 9</a:t>
            </a:r>
          </a:p>
          <a:p>
            <a:pPr algn="l"/>
            <a:r>
              <a:rPr lang="fr-FR" dirty="0">
                <a:solidFill>
                  <a:srgbClr val="212529"/>
                </a:solidFill>
                <a:latin typeface="system-ui"/>
              </a:rPr>
              <a:t>Radio – 8</a:t>
            </a:r>
          </a:p>
          <a:p>
            <a:pPr algn="l"/>
            <a:r>
              <a:rPr lang="fr-FR" dirty="0">
                <a:solidFill>
                  <a:srgbClr val="212529"/>
                </a:solidFill>
                <a:latin typeface="system-ui"/>
              </a:rPr>
              <a:t>Four à micro-ondes – 8</a:t>
            </a:r>
          </a:p>
          <a:p>
            <a:pPr algn="l"/>
            <a:r>
              <a:rPr lang="fr-FR" dirty="0">
                <a:solidFill>
                  <a:srgbClr val="212529"/>
                </a:solidFill>
                <a:latin typeface="system-ui"/>
              </a:rPr>
              <a:t>Machine à laver – 8</a:t>
            </a:r>
          </a:p>
          <a:p>
            <a:pPr algn="l"/>
            <a:r>
              <a:rPr lang="fr-FR" dirty="0">
                <a:solidFill>
                  <a:srgbClr val="212529"/>
                </a:solidFill>
                <a:latin typeface="system-ui"/>
              </a:rPr>
              <a:t>Four – 8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3169AE1E-A089-4682-8C2A-1CE570A0A1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5222" y="0"/>
            <a:ext cx="7070778" cy="6858000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A31C8A0B-A370-444F-8575-E14B0F67B532}"/>
              </a:ext>
            </a:extLst>
          </p:cNvPr>
          <p:cNvSpPr txBox="1"/>
          <p:nvPr/>
        </p:nvSpPr>
        <p:spPr>
          <a:xfrm>
            <a:off x="364198" y="192026"/>
            <a:ext cx="45955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Réparations 2024-2025 du </a:t>
            </a:r>
            <a:r>
              <a:rPr lang="fr-FR" b="1" dirty="0" err="1"/>
              <a:t>Repair</a:t>
            </a:r>
            <a:r>
              <a:rPr lang="fr-FR" b="1" dirty="0"/>
              <a:t> Café Orsay : </a:t>
            </a:r>
          </a:p>
          <a:p>
            <a:r>
              <a:rPr lang="fr-FR" b="1" dirty="0"/>
              <a:t>622 objets, dont</a:t>
            </a:r>
          </a:p>
        </p:txBody>
      </p:sp>
    </p:spTree>
    <p:extLst>
      <p:ext uri="{BB962C8B-B14F-4D97-AF65-F5344CB8AC3E}">
        <p14:creationId xmlns:p14="http://schemas.microsoft.com/office/powerpoint/2010/main" val="16994957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859245" y="531412"/>
            <a:ext cx="8278356" cy="8540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950" dirty="0">
                <a:solidFill>
                  <a:schemeClr val="accent1">
                    <a:lumMod val="50000"/>
                  </a:schemeClr>
                </a:solidFill>
                <a:latin typeface="Curlz MT" panose="04040404050702020202" pitchFamily="82" charset="0"/>
              </a:rPr>
              <a:t>Bienvenue au </a:t>
            </a:r>
            <a:r>
              <a:rPr lang="fr-FR" sz="4950" dirty="0" err="1">
                <a:solidFill>
                  <a:schemeClr val="accent1">
                    <a:lumMod val="50000"/>
                  </a:schemeClr>
                </a:solidFill>
                <a:latin typeface="Curlz MT" panose="04040404050702020202" pitchFamily="82" charset="0"/>
              </a:rPr>
              <a:t>Repair</a:t>
            </a:r>
            <a:r>
              <a:rPr lang="fr-FR" sz="4950" dirty="0">
                <a:solidFill>
                  <a:schemeClr val="accent1">
                    <a:lumMod val="50000"/>
                  </a:schemeClr>
                </a:solidFill>
                <a:latin typeface="Curlz MT" panose="04040404050702020202" pitchFamily="82" charset="0"/>
              </a:rPr>
              <a:t> Café d’Orsay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2048694" y="3065909"/>
            <a:ext cx="70071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Des bénévoles sont là, avec leurs outils, pour vous aider à réparer.</a:t>
            </a:r>
          </a:p>
        </p:txBody>
      </p:sp>
      <p:sp>
        <p:nvSpPr>
          <p:cNvPr id="4" name="ZoneTexte 3"/>
          <p:cNvSpPr txBox="1"/>
          <p:nvPr/>
        </p:nvSpPr>
        <p:spPr>
          <a:xfrm>
            <a:off x="1278644" y="1895158"/>
            <a:ext cx="63578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Apportez vos objets à réparer </a:t>
            </a:r>
            <a:r>
              <a:rPr lang="fr-FR" sz="1050" dirty="0">
                <a:latin typeface="Arial" panose="020B0604020202020204" pitchFamily="34" charset="0"/>
                <a:cs typeface="Arial" panose="020B0604020202020204" pitchFamily="34" charset="0"/>
              </a:rPr>
              <a:t>(vélo, cafetière, pantalon, ordinateur, téléphone…).</a:t>
            </a:r>
          </a:p>
        </p:txBody>
      </p:sp>
      <p:sp>
        <p:nvSpPr>
          <p:cNvPr id="5" name="ZoneTexte 4"/>
          <p:cNvSpPr txBox="1"/>
          <p:nvPr/>
        </p:nvSpPr>
        <p:spPr>
          <a:xfrm>
            <a:off x="1251211" y="4054387"/>
            <a:ext cx="7494424" cy="10849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Le service d’aide à la réparation est gratuit.</a:t>
            </a:r>
          </a:p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Vous achetez les pièces détachées nécessaires.</a:t>
            </a:r>
          </a:p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Vous pouvez faire un don pour aider au fonctionnement de l’association</a:t>
            </a:r>
          </a:p>
          <a:p>
            <a:r>
              <a:rPr lang="fr-FR" sz="1050" dirty="0">
                <a:latin typeface="Arial" panose="020B0604020202020204" pitchFamily="34" charset="0"/>
                <a:cs typeface="Arial" panose="020B0604020202020204" pitchFamily="34" charset="0"/>
              </a:rPr>
              <a:t> (frais bancaires, assurance, achat d’outils…)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3349426" y="5728481"/>
            <a:ext cx="55547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Vous repartez avec vos objets </a:t>
            </a:r>
            <a:r>
              <a:rPr lang="fr-FR" sz="1050" dirty="0">
                <a:latin typeface="Arial" panose="020B0604020202020204" pitchFamily="34" charset="0"/>
                <a:cs typeface="Arial" panose="020B0604020202020204" pitchFamily="34" charset="0"/>
              </a:rPr>
              <a:t>(le </a:t>
            </a:r>
            <a:r>
              <a:rPr lang="fr-FR" sz="1050" dirty="0" err="1">
                <a:latin typeface="Arial" panose="020B0604020202020204" pitchFamily="34" charset="0"/>
                <a:cs typeface="Arial" panose="020B0604020202020204" pitchFamily="34" charset="0"/>
              </a:rPr>
              <a:t>Repair</a:t>
            </a:r>
            <a:r>
              <a:rPr lang="fr-FR" sz="1050" dirty="0">
                <a:latin typeface="Arial" panose="020B0604020202020204" pitchFamily="34" charset="0"/>
                <a:cs typeface="Arial" panose="020B0604020202020204" pitchFamily="34" charset="0"/>
              </a:rPr>
              <a:t> Café ne les conserve pas).</a:t>
            </a:r>
          </a:p>
        </p:txBody>
      </p:sp>
      <p:pic>
        <p:nvPicPr>
          <p:cNvPr id="1026" name="Picture 2" descr="Monochrome silhouette t-shirt man Royalty Free Vector Image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7702"/>
          <a:stretch/>
        </p:blipFill>
        <p:spPr bwMode="auto">
          <a:xfrm rot="-1980000">
            <a:off x="712127" y="2314438"/>
            <a:ext cx="677228" cy="9230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lhouette Of Hand Tools Stock Illustration - Download Image Now - iStock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411" r="44668"/>
          <a:stretch/>
        </p:blipFill>
        <p:spPr bwMode="auto">
          <a:xfrm rot="1800000">
            <a:off x="8092883" y="1804769"/>
            <a:ext cx="540445" cy="1003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ZoneTexte 6"/>
          <p:cNvSpPr txBox="1"/>
          <p:nvPr/>
        </p:nvSpPr>
        <p:spPr>
          <a:xfrm>
            <a:off x="649436" y="4289858"/>
            <a:ext cx="57419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6000" dirty="0"/>
              <a:t>€</a:t>
            </a:r>
          </a:p>
        </p:txBody>
      </p:sp>
    </p:spTree>
    <p:extLst>
      <p:ext uri="{BB962C8B-B14F-4D97-AF65-F5344CB8AC3E}">
        <p14:creationId xmlns:p14="http://schemas.microsoft.com/office/powerpoint/2010/main" val="20709409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820444" y="577714"/>
            <a:ext cx="7376186" cy="8540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950" dirty="0">
                <a:solidFill>
                  <a:schemeClr val="accent1">
                    <a:lumMod val="50000"/>
                  </a:schemeClr>
                </a:solidFill>
                <a:latin typeface="Curlz MT" panose="04040404050702020202" pitchFamily="82" charset="0"/>
              </a:rPr>
              <a:t>Comment aider le </a:t>
            </a:r>
            <a:r>
              <a:rPr lang="fr-FR" sz="4950" dirty="0" err="1">
                <a:solidFill>
                  <a:schemeClr val="accent1">
                    <a:lumMod val="50000"/>
                  </a:schemeClr>
                </a:solidFill>
                <a:latin typeface="Curlz MT" panose="04040404050702020202" pitchFamily="82" charset="0"/>
              </a:rPr>
              <a:t>Repair</a:t>
            </a:r>
            <a:r>
              <a:rPr lang="fr-FR" sz="4950" dirty="0">
                <a:solidFill>
                  <a:schemeClr val="accent1">
                    <a:lumMod val="50000"/>
                  </a:schemeClr>
                </a:solidFill>
                <a:latin typeface="Curlz MT" panose="04040404050702020202" pitchFamily="82" charset="0"/>
              </a:rPr>
              <a:t> Café</a:t>
            </a:r>
          </a:p>
        </p:txBody>
      </p:sp>
      <p:sp>
        <p:nvSpPr>
          <p:cNvPr id="4" name="ZoneTexte 3"/>
          <p:cNvSpPr txBox="1"/>
          <p:nvPr/>
        </p:nvSpPr>
        <p:spPr>
          <a:xfrm>
            <a:off x="1263734" y="1987152"/>
            <a:ext cx="8348760" cy="36009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En aidant à réparer </a:t>
            </a:r>
            <a:r>
              <a:rPr lang="fr-FR" sz="1200" dirty="0">
                <a:latin typeface="Arial" panose="020B0604020202020204" pitchFamily="34" charset="0"/>
                <a:cs typeface="Arial" panose="020B0604020202020204" pitchFamily="34" charset="0"/>
              </a:rPr>
              <a:t>(électroménager, électronique, informatique, couture…)</a:t>
            </a:r>
          </a:p>
          <a:p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En organisant les séances </a:t>
            </a:r>
            <a:r>
              <a:rPr lang="fr-FR" sz="1200" dirty="0">
                <a:latin typeface="Arial" panose="020B0604020202020204" pitchFamily="34" charset="0"/>
                <a:cs typeface="Arial" panose="020B0604020202020204" pitchFamily="34" charset="0"/>
              </a:rPr>
              <a:t>(ouverture et fermeture de la salle, enregistrement des visiteurs, </a:t>
            </a:r>
          </a:p>
          <a:p>
            <a:r>
              <a:rPr lang="fr-FR" sz="1200" dirty="0">
                <a:latin typeface="Arial" panose="020B0604020202020204" pitchFamily="34" charset="0"/>
                <a:cs typeface="Arial" panose="020B0604020202020204" pitchFamily="34" charset="0"/>
              </a:rPr>
              <a:t>rangement des placards, achat des consommables…)</a:t>
            </a: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En maintenant le site web et l’application</a:t>
            </a:r>
          </a:p>
          <a:p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En communiquant sur le site web </a:t>
            </a:r>
            <a:r>
              <a:rPr lang="fr-FR" sz="1600" dirty="0">
                <a:latin typeface="Arial" panose="020B0604020202020204" pitchFamily="34" charset="0"/>
                <a:cs typeface="Arial" panose="020B0604020202020204" pitchFamily="34" charset="0"/>
              </a:rPr>
              <a:t>(articles, reportages vidéo ou photo de réparation, </a:t>
            </a:r>
          </a:p>
          <a:p>
            <a:r>
              <a:rPr lang="fr-FR" sz="1600" dirty="0">
                <a:latin typeface="Arial" panose="020B0604020202020204" pitchFamily="34" charset="0"/>
                <a:cs typeface="Arial" panose="020B0604020202020204" pitchFamily="34" charset="0"/>
              </a:rPr>
              <a:t>fiches de réparation…)</a:t>
            </a: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En trouvant des financements </a:t>
            </a:r>
            <a:r>
              <a:rPr lang="fr-FR" sz="1200" dirty="0">
                <a:latin typeface="Arial" panose="020B0604020202020204" pitchFamily="34" charset="0"/>
                <a:cs typeface="Arial" panose="020B0604020202020204" pitchFamily="34" charset="0"/>
              </a:rPr>
              <a:t>(sponsors, partenariats…)</a:t>
            </a: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En faisant un don</a:t>
            </a:r>
          </a:p>
        </p:txBody>
      </p:sp>
    </p:spTree>
    <p:extLst>
      <p:ext uri="{BB962C8B-B14F-4D97-AF65-F5344CB8AC3E}">
        <p14:creationId xmlns:p14="http://schemas.microsoft.com/office/powerpoint/2010/main" val="32783416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e 14">
            <a:extLst>
              <a:ext uri="{FF2B5EF4-FFF2-40B4-BE49-F238E27FC236}">
                <a16:creationId xmlns:a16="http://schemas.microsoft.com/office/drawing/2014/main" id="{1B4C5D16-CBEA-4BA5-B957-12E13E4FA484}"/>
              </a:ext>
            </a:extLst>
          </p:cNvPr>
          <p:cNvGrpSpPr/>
          <p:nvPr/>
        </p:nvGrpSpPr>
        <p:grpSpPr>
          <a:xfrm>
            <a:off x="694037" y="316201"/>
            <a:ext cx="8581214" cy="6430589"/>
            <a:chOff x="178656" y="456837"/>
            <a:chExt cx="4241513" cy="3323467"/>
          </a:xfrm>
        </p:grpSpPr>
        <p:grpSp>
          <p:nvGrpSpPr>
            <p:cNvPr id="6" name="Groupe 5">
              <a:extLst>
                <a:ext uri="{FF2B5EF4-FFF2-40B4-BE49-F238E27FC236}">
                  <a16:creationId xmlns:a16="http://schemas.microsoft.com/office/drawing/2014/main" id="{52964B4E-923F-47BA-83D7-3141FF0E8FC6}"/>
                </a:ext>
              </a:extLst>
            </p:cNvPr>
            <p:cNvGrpSpPr/>
            <p:nvPr/>
          </p:nvGrpSpPr>
          <p:grpSpPr>
            <a:xfrm>
              <a:off x="178656" y="1677430"/>
              <a:ext cx="4241513" cy="2102874"/>
              <a:chOff x="178656" y="1677430"/>
              <a:chExt cx="4241513" cy="2102874"/>
            </a:xfrm>
          </p:grpSpPr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533CDC9B-A826-42B1-95C3-7A2128FF542A}"/>
                  </a:ext>
                </a:extLst>
              </p:cNvPr>
              <p:cNvSpPr txBox="1"/>
              <p:nvPr/>
            </p:nvSpPr>
            <p:spPr>
              <a:xfrm>
                <a:off x="178656" y="1677430"/>
                <a:ext cx="4067718" cy="20280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2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Tout réparer </a:t>
                </a:r>
              </a:p>
              <a:p>
                <a:pPr algn="ctr"/>
                <a:r>
                  <a:rPr lang="fr-FR" sz="2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Gratuit et sans inscription</a:t>
                </a:r>
              </a:p>
              <a:p>
                <a:pPr algn="ctr"/>
                <a:endParaRPr lang="fr-FR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fr-FR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Tous les mercredis 14h à 17h30</a:t>
                </a:r>
              </a:p>
              <a:p>
                <a:pPr algn="ctr"/>
                <a:r>
                  <a:rPr lang="fr-FR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Tous les samedis 9h30 à 12h</a:t>
                </a:r>
              </a:p>
              <a:p>
                <a:pPr algn="ctr"/>
                <a:endParaRPr lang="fr-FR" sz="105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fr-FR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fr-FR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fr-FR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fr-FR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fr-FR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Maison des Muses</a:t>
                </a:r>
              </a:p>
              <a:p>
                <a:r>
                  <a:rPr lang="fr-FR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7b avenue Saint Laurent</a:t>
                </a:r>
              </a:p>
              <a:p>
                <a:r>
                  <a:rPr lang="fr-FR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Orsay</a:t>
                </a:r>
              </a:p>
              <a:p>
                <a:endParaRPr lang="fr-FR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fr-FR" sz="1200" u="sng" dirty="0">
                    <a:latin typeface="Arial" panose="020B0604020202020204" pitchFamily="34" charset="0"/>
                    <a:cs typeface="Arial" panose="020B0604020202020204" pitchFamily="34" charset="0"/>
                  </a:rPr>
                  <a:t>https://www.repaircafe-orsay.org/</a:t>
                </a:r>
              </a:p>
              <a:p>
                <a:endParaRPr lang="fr-FR" sz="105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5" name="Image 4">
                <a:extLst>
                  <a:ext uri="{FF2B5EF4-FFF2-40B4-BE49-F238E27FC236}">
                    <a16:creationId xmlns:a16="http://schemas.microsoft.com/office/drawing/2014/main" id="{8BFCC1E9-F32E-4E6E-823F-0D82BD2F36F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299301" y="2670010"/>
                <a:ext cx="1120868" cy="1110294"/>
              </a:xfrm>
              <a:prstGeom prst="rect">
                <a:avLst/>
              </a:prstGeom>
            </p:spPr>
          </p:pic>
        </p:grpSp>
        <p:pic>
          <p:nvPicPr>
            <p:cNvPr id="14" name="Image 13">
              <a:extLst>
                <a:ext uri="{FF2B5EF4-FFF2-40B4-BE49-F238E27FC236}">
                  <a16:creationId xmlns:a16="http://schemas.microsoft.com/office/drawing/2014/main" id="{46FCC9A5-02D8-4AE4-917E-0BF07EB223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7200" y="456837"/>
              <a:ext cx="3529202" cy="97333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007615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e 14">
            <a:extLst>
              <a:ext uri="{FF2B5EF4-FFF2-40B4-BE49-F238E27FC236}">
                <a16:creationId xmlns:a16="http://schemas.microsoft.com/office/drawing/2014/main" id="{1B4C5D16-CBEA-4BA5-B957-12E13E4FA484}"/>
              </a:ext>
            </a:extLst>
          </p:cNvPr>
          <p:cNvGrpSpPr/>
          <p:nvPr/>
        </p:nvGrpSpPr>
        <p:grpSpPr>
          <a:xfrm>
            <a:off x="617927" y="77302"/>
            <a:ext cx="4321143" cy="3385174"/>
            <a:chOff x="141036" y="312082"/>
            <a:chExt cx="4321143" cy="3385174"/>
          </a:xfrm>
        </p:grpSpPr>
        <p:grpSp>
          <p:nvGrpSpPr>
            <p:cNvPr id="6" name="Groupe 5">
              <a:extLst>
                <a:ext uri="{FF2B5EF4-FFF2-40B4-BE49-F238E27FC236}">
                  <a16:creationId xmlns:a16="http://schemas.microsoft.com/office/drawing/2014/main" id="{52964B4E-923F-47BA-83D7-3141FF0E8FC6}"/>
                </a:ext>
              </a:extLst>
            </p:cNvPr>
            <p:cNvGrpSpPr/>
            <p:nvPr/>
          </p:nvGrpSpPr>
          <p:grpSpPr>
            <a:xfrm>
              <a:off x="278939" y="1619764"/>
              <a:ext cx="4141230" cy="2077492"/>
              <a:chOff x="278939" y="1619764"/>
              <a:chExt cx="4141230" cy="2077492"/>
            </a:xfrm>
          </p:grpSpPr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533CDC9B-A826-42B1-95C3-7A2128FF542A}"/>
                  </a:ext>
                </a:extLst>
              </p:cNvPr>
              <p:cNvSpPr txBox="1"/>
              <p:nvPr/>
            </p:nvSpPr>
            <p:spPr>
              <a:xfrm>
                <a:off x="278939" y="1619764"/>
                <a:ext cx="4045338" cy="20774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fr-F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Tout réparer - Gratuit et sans inscription</a:t>
                </a:r>
              </a:p>
              <a:p>
                <a:pPr algn="ctr"/>
                <a:r>
                  <a:rPr lang="fr-F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Mercredi 14h à 17h30</a:t>
                </a:r>
              </a:p>
              <a:p>
                <a:pPr algn="ctr"/>
                <a:r>
                  <a:rPr lang="fr-F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Samedi 9h30 à 12h</a:t>
                </a:r>
              </a:p>
              <a:p>
                <a:pPr algn="ctr"/>
                <a:endParaRPr lang="fr-FR" sz="105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fr-FR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Maison des Muses</a:t>
                </a:r>
              </a:p>
              <a:p>
                <a:r>
                  <a:rPr lang="fr-FR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7b avenue Saint Laurent</a:t>
                </a:r>
              </a:p>
              <a:p>
                <a:r>
                  <a:rPr lang="fr-FR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Orsay</a:t>
                </a:r>
              </a:p>
              <a:p>
                <a:endParaRPr lang="fr-FR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fr-FR" sz="1200" u="sng" dirty="0">
                    <a:latin typeface="Arial" panose="020B0604020202020204" pitchFamily="34" charset="0"/>
                    <a:cs typeface="Arial" panose="020B0604020202020204" pitchFamily="34" charset="0"/>
                  </a:rPr>
                  <a:t>https://www.repaircafe-orsay.org/</a:t>
                </a:r>
              </a:p>
              <a:p>
                <a:endParaRPr lang="fr-FR" sz="105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5" name="Image 4">
                <a:extLst>
                  <a:ext uri="{FF2B5EF4-FFF2-40B4-BE49-F238E27FC236}">
                    <a16:creationId xmlns:a16="http://schemas.microsoft.com/office/drawing/2014/main" id="{8BFCC1E9-F32E-4E6E-823F-0D82BD2F36F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299301" y="2439347"/>
                <a:ext cx="1120868" cy="1110294"/>
              </a:xfrm>
              <a:prstGeom prst="rect">
                <a:avLst/>
              </a:prstGeom>
            </p:spPr>
          </p:pic>
        </p:grpSp>
        <p:pic>
          <p:nvPicPr>
            <p:cNvPr id="14" name="Image 13">
              <a:extLst>
                <a:ext uri="{FF2B5EF4-FFF2-40B4-BE49-F238E27FC236}">
                  <a16:creationId xmlns:a16="http://schemas.microsoft.com/office/drawing/2014/main" id="{46FCC9A5-02D8-4AE4-917E-0BF07EB223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1036" y="312082"/>
              <a:ext cx="4321143" cy="1191744"/>
            </a:xfrm>
            <a:prstGeom prst="rect">
              <a:avLst/>
            </a:prstGeom>
          </p:spPr>
        </p:pic>
      </p:grp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3614557A-FE2F-442E-B71A-EF23AE0A4093}"/>
              </a:ext>
            </a:extLst>
          </p:cNvPr>
          <p:cNvGrpSpPr/>
          <p:nvPr/>
        </p:nvGrpSpPr>
        <p:grpSpPr>
          <a:xfrm>
            <a:off x="5104834" y="77302"/>
            <a:ext cx="4321143" cy="3442840"/>
            <a:chOff x="141036" y="312082"/>
            <a:chExt cx="4321143" cy="3442840"/>
          </a:xfrm>
        </p:grpSpPr>
        <p:grpSp>
          <p:nvGrpSpPr>
            <p:cNvPr id="18" name="Groupe 17">
              <a:extLst>
                <a:ext uri="{FF2B5EF4-FFF2-40B4-BE49-F238E27FC236}">
                  <a16:creationId xmlns:a16="http://schemas.microsoft.com/office/drawing/2014/main" id="{EE5B0327-9DC4-4BD4-9BD1-9F8442571334}"/>
                </a:ext>
              </a:extLst>
            </p:cNvPr>
            <p:cNvGrpSpPr/>
            <p:nvPr/>
          </p:nvGrpSpPr>
          <p:grpSpPr>
            <a:xfrm>
              <a:off x="278939" y="1677430"/>
              <a:ext cx="4141230" cy="2077492"/>
              <a:chOff x="278939" y="1677430"/>
              <a:chExt cx="4141230" cy="2077492"/>
            </a:xfrm>
          </p:grpSpPr>
          <p:sp>
            <p:nvSpPr>
              <p:cNvPr id="20" name="ZoneTexte 19">
                <a:extLst>
                  <a:ext uri="{FF2B5EF4-FFF2-40B4-BE49-F238E27FC236}">
                    <a16:creationId xmlns:a16="http://schemas.microsoft.com/office/drawing/2014/main" id="{31A7BE97-DE46-47B9-9D07-E1B66C700E53}"/>
                  </a:ext>
                </a:extLst>
              </p:cNvPr>
              <p:cNvSpPr txBox="1"/>
              <p:nvPr/>
            </p:nvSpPr>
            <p:spPr>
              <a:xfrm>
                <a:off x="278939" y="1677430"/>
                <a:ext cx="4045338" cy="20774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fr-F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Tout réparer - Gratuit et sans inscription</a:t>
                </a:r>
              </a:p>
              <a:p>
                <a:pPr algn="ctr"/>
                <a:r>
                  <a:rPr lang="fr-F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Mercredi 14h à 17h30</a:t>
                </a:r>
              </a:p>
              <a:p>
                <a:pPr algn="ctr"/>
                <a:r>
                  <a:rPr lang="fr-F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Samedi 9h30 à 12h</a:t>
                </a:r>
              </a:p>
              <a:p>
                <a:pPr algn="ctr"/>
                <a:endParaRPr lang="fr-FR" sz="105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fr-FR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Maison des Muses</a:t>
                </a:r>
              </a:p>
              <a:p>
                <a:r>
                  <a:rPr lang="fr-FR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7b avenue Saint Laurent</a:t>
                </a:r>
              </a:p>
              <a:p>
                <a:r>
                  <a:rPr lang="fr-FR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Orsay</a:t>
                </a:r>
              </a:p>
              <a:p>
                <a:endParaRPr lang="fr-FR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fr-FR" sz="1200" u="sng" dirty="0">
                    <a:latin typeface="Arial" panose="020B0604020202020204" pitchFamily="34" charset="0"/>
                    <a:cs typeface="Arial" panose="020B0604020202020204" pitchFamily="34" charset="0"/>
                  </a:rPr>
                  <a:t>https://www.repaircafe-orsay.org/</a:t>
                </a:r>
              </a:p>
              <a:p>
                <a:endParaRPr lang="fr-FR" sz="105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21" name="Image 20">
                <a:extLst>
                  <a:ext uri="{FF2B5EF4-FFF2-40B4-BE49-F238E27FC236}">
                    <a16:creationId xmlns:a16="http://schemas.microsoft.com/office/drawing/2014/main" id="{A515C917-CD99-4BBD-ABFF-BD57990ADD0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299301" y="2497012"/>
                <a:ext cx="1120868" cy="1110294"/>
              </a:xfrm>
              <a:prstGeom prst="rect">
                <a:avLst/>
              </a:prstGeom>
            </p:spPr>
          </p:pic>
        </p:grpSp>
        <p:pic>
          <p:nvPicPr>
            <p:cNvPr id="19" name="Image 18">
              <a:extLst>
                <a:ext uri="{FF2B5EF4-FFF2-40B4-BE49-F238E27FC236}">
                  <a16:creationId xmlns:a16="http://schemas.microsoft.com/office/drawing/2014/main" id="{B0FD1198-212C-4583-855E-1E9311EEC6F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1036" y="312082"/>
              <a:ext cx="4321143" cy="1191744"/>
            </a:xfrm>
            <a:prstGeom prst="rect">
              <a:avLst/>
            </a:prstGeom>
          </p:spPr>
        </p:pic>
      </p:grpSp>
      <p:grpSp>
        <p:nvGrpSpPr>
          <p:cNvPr id="22" name="Groupe 21">
            <a:extLst>
              <a:ext uri="{FF2B5EF4-FFF2-40B4-BE49-F238E27FC236}">
                <a16:creationId xmlns:a16="http://schemas.microsoft.com/office/drawing/2014/main" id="{66084732-273B-4006-B5BB-8445146A6FED}"/>
              </a:ext>
            </a:extLst>
          </p:cNvPr>
          <p:cNvGrpSpPr/>
          <p:nvPr/>
        </p:nvGrpSpPr>
        <p:grpSpPr>
          <a:xfrm>
            <a:off x="480023" y="3520142"/>
            <a:ext cx="4321143" cy="3442840"/>
            <a:chOff x="141036" y="312082"/>
            <a:chExt cx="4321143" cy="3442840"/>
          </a:xfrm>
        </p:grpSpPr>
        <p:grpSp>
          <p:nvGrpSpPr>
            <p:cNvPr id="23" name="Groupe 22">
              <a:extLst>
                <a:ext uri="{FF2B5EF4-FFF2-40B4-BE49-F238E27FC236}">
                  <a16:creationId xmlns:a16="http://schemas.microsoft.com/office/drawing/2014/main" id="{8D2D6E05-66A7-4932-9DA0-43C11C65EA6B}"/>
                </a:ext>
              </a:extLst>
            </p:cNvPr>
            <p:cNvGrpSpPr/>
            <p:nvPr/>
          </p:nvGrpSpPr>
          <p:grpSpPr>
            <a:xfrm>
              <a:off x="278939" y="1677430"/>
              <a:ext cx="4141230" cy="2077492"/>
              <a:chOff x="278939" y="1677430"/>
              <a:chExt cx="4141230" cy="2077492"/>
            </a:xfrm>
          </p:grpSpPr>
          <p:sp>
            <p:nvSpPr>
              <p:cNvPr id="25" name="ZoneTexte 24">
                <a:extLst>
                  <a:ext uri="{FF2B5EF4-FFF2-40B4-BE49-F238E27FC236}">
                    <a16:creationId xmlns:a16="http://schemas.microsoft.com/office/drawing/2014/main" id="{904AAE13-5CCD-4480-8E69-EFF9A3C207C7}"/>
                  </a:ext>
                </a:extLst>
              </p:cNvPr>
              <p:cNvSpPr txBox="1"/>
              <p:nvPr/>
            </p:nvSpPr>
            <p:spPr>
              <a:xfrm>
                <a:off x="278939" y="1677430"/>
                <a:ext cx="4045338" cy="20774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fr-F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Tout réparer - Gratuit et sans inscription</a:t>
                </a:r>
              </a:p>
              <a:p>
                <a:pPr algn="ctr"/>
                <a:r>
                  <a:rPr lang="fr-F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Mercredi 14h à 17h30</a:t>
                </a:r>
              </a:p>
              <a:p>
                <a:pPr algn="ctr"/>
                <a:r>
                  <a:rPr lang="fr-F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Samedi 9h30 à 12h</a:t>
                </a:r>
              </a:p>
              <a:p>
                <a:pPr algn="ctr"/>
                <a:endParaRPr lang="fr-FR" sz="105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fr-FR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Maison des Muses</a:t>
                </a:r>
              </a:p>
              <a:p>
                <a:r>
                  <a:rPr lang="fr-FR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7b avenue Saint Laurent</a:t>
                </a:r>
              </a:p>
              <a:p>
                <a:r>
                  <a:rPr lang="fr-FR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Orsay</a:t>
                </a:r>
              </a:p>
              <a:p>
                <a:endParaRPr lang="fr-FR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fr-FR" sz="1200" u="sng" dirty="0">
                    <a:latin typeface="Arial" panose="020B0604020202020204" pitchFamily="34" charset="0"/>
                    <a:cs typeface="Arial" panose="020B0604020202020204" pitchFamily="34" charset="0"/>
                  </a:rPr>
                  <a:t>https://www.repaircafe-orsay.org/</a:t>
                </a:r>
              </a:p>
              <a:p>
                <a:endParaRPr lang="fr-FR" sz="105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26" name="Image 25">
                <a:extLst>
                  <a:ext uri="{FF2B5EF4-FFF2-40B4-BE49-F238E27FC236}">
                    <a16:creationId xmlns:a16="http://schemas.microsoft.com/office/drawing/2014/main" id="{E54E5712-3EC6-437B-A799-09138E41A65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299301" y="2398159"/>
                <a:ext cx="1120868" cy="1110294"/>
              </a:xfrm>
              <a:prstGeom prst="rect">
                <a:avLst/>
              </a:prstGeom>
            </p:spPr>
          </p:pic>
        </p:grpSp>
        <p:pic>
          <p:nvPicPr>
            <p:cNvPr id="24" name="Image 23">
              <a:extLst>
                <a:ext uri="{FF2B5EF4-FFF2-40B4-BE49-F238E27FC236}">
                  <a16:creationId xmlns:a16="http://schemas.microsoft.com/office/drawing/2014/main" id="{17F2D286-1BEE-4893-A8E6-BEB6A096D67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1036" y="312082"/>
              <a:ext cx="4321143" cy="1191744"/>
            </a:xfrm>
            <a:prstGeom prst="rect">
              <a:avLst/>
            </a:prstGeom>
          </p:spPr>
        </p:pic>
      </p:grpSp>
      <p:grpSp>
        <p:nvGrpSpPr>
          <p:cNvPr id="27" name="Groupe 26">
            <a:extLst>
              <a:ext uri="{FF2B5EF4-FFF2-40B4-BE49-F238E27FC236}">
                <a16:creationId xmlns:a16="http://schemas.microsoft.com/office/drawing/2014/main" id="{DC91C39D-9EA2-445F-B7DA-BEA3B3C2299C}"/>
              </a:ext>
            </a:extLst>
          </p:cNvPr>
          <p:cNvGrpSpPr/>
          <p:nvPr/>
        </p:nvGrpSpPr>
        <p:grpSpPr>
          <a:xfrm>
            <a:off x="4966932" y="3617340"/>
            <a:ext cx="4321143" cy="3442840"/>
            <a:chOff x="141036" y="312082"/>
            <a:chExt cx="4321143" cy="3442840"/>
          </a:xfrm>
        </p:grpSpPr>
        <p:grpSp>
          <p:nvGrpSpPr>
            <p:cNvPr id="28" name="Groupe 27">
              <a:extLst>
                <a:ext uri="{FF2B5EF4-FFF2-40B4-BE49-F238E27FC236}">
                  <a16:creationId xmlns:a16="http://schemas.microsoft.com/office/drawing/2014/main" id="{ADCECF2D-BAFB-4876-B7F4-020FB5979141}"/>
                </a:ext>
              </a:extLst>
            </p:cNvPr>
            <p:cNvGrpSpPr/>
            <p:nvPr/>
          </p:nvGrpSpPr>
          <p:grpSpPr>
            <a:xfrm>
              <a:off x="278939" y="1677430"/>
              <a:ext cx="4141230" cy="2077492"/>
              <a:chOff x="278939" y="1677430"/>
              <a:chExt cx="4141230" cy="2077492"/>
            </a:xfrm>
          </p:grpSpPr>
          <p:sp>
            <p:nvSpPr>
              <p:cNvPr id="30" name="ZoneTexte 29">
                <a:extLst>
                  <a:ext uri="{FF2B5EF4-FFF2-40B4-BE49-F238E27FC236}">
                    <a16:creationId xmlns:a16="http://schemas.microsoft.com/office/drawing/2014/main" id="{01407B31-4C22-4E50-B9AC-9A54258ED327}"/>
                  </a:ext>
                </a:extLst>
              </p:cNvPr>
              <p:cNvSpPr txBox="1"/>
              <p:nvPr/>
            </p:nvSpPr>
            <p:spPr>
              <a:xfrm>
                <a:off x="278939" y="1677430"/>
                <a:ext cx="4045338" cy="20774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fr-F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Tout réparer - Gratuit et sans inscription</a:t>
                </a:r>
              </a:p>
              <a:p>
                <a:pPr algn="ctr"/>
                <a:r>
                  <a:rPr lang="fr-F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Mercredi 14h à 17h30</a:t>
                </a:r>
              </a:p>
              <a:p>
                <a:pPr algn="ctr"/>
                <a:r>
                  <a:rPr lang="fr-F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Samedi 9h30 à 12h</a:t>
                </a:r>
              </a:p>
              <a:p>
                <a:pPr algn="ctr"/>
                <a:endParaRPr lang="fr-FR" sz="105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fr-FR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Maison des Muses</a:t>
                </a:r>
              </a:p>
              <a:p>
                <a:r>
                  <a:rPr lang="fr-FR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7b avenue Saint Laurent</a:t>
                </a:r>
              </a:p>
              <a:p>
                <a:r>
                  <a:rPr lang="fr-FR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Orsay</a:t>
                </a:r>
              </a:p>
              <a:p>
                <a:endParaRPr lang="fr-FR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fr-FR" sz="1200" u="sng" dirty="0">
                    <a:latin typeface="Arial" panose="020B0604020202020204" pitchFamily="34" charset="0"/>
                    <a:cs typeface="Arial" panose="020B0604020202020204" pitchFamily="34" charset="0"/>
                  </a:rPr>
                  <a:t>https://www.repaircafe-orsay.org/</a:t>
                </a:r>
              </a:p>
              <a:p>
                <a:endParaRPr lang="fr-FR" sz="105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31" name="Image 30">
                <a:extLst>
                  <a:ext uri="{FF2B5EF4-FFF2-40B4-BE49-F238E27FC236}">
                    <a16:creationId xmlns:a16="http://schemas.microsoft.com/office/drawing/2014/main" id="{3B62D2DC-7930-4EE9-9B2D-3FF38D96D88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299301" y="2365208"/>
                <a:ext cx="1120868" cy="1110294"/>
              </a:xfrm>
              <a:prstGeom prst="rect">
                <a:avLst/>
              </a:prstGeom>
            </p:spPr>
          </p:pic>
        </p:grpSp>
        <p:pic>
          <p:nvPicPr>
            <p:cNvPr id="29" name="Image 28">
              <a:extLst>
                <a:ext uri="{FF2B5EF4-FFF2-40B4-BE49-F238E27FC236}">
                  <a16:creationId xmlns:a16="http://schemas.microsoft.com/office/drawing/2014/main" id="{760BFDF0-43F5-4DC9-8341-77FA50F58F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1036" y="312082"/>
              <a:ext cx="4321143" cy="119174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227316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e 14">
            <a:extLst>
              <a:ext uri="{FF2B5EF4-FFF2-40B4-BE49-F238E27FC236}">
                <a16:creationId xmlns:a16="http://schemas.microsoft.com/office/drawing/2014/main" id="{1B4C5D16-CBEA-4BA5-B957-12E13E4FA484}"/>
              </a:ext>
            </a:extLst>
          </p:cNvPr>
          <p:cNvGrpSpPr/>
          <p:nvPr/>
        </p:nvGrpSpPr>
        <p:grpSpPr>
          <a:xfrm>
            <a:off x="617927" y="77302"/>
            <a:ext cx="4321143" cy="3385174"/>
            <a:chOff x="141036" y="312082"/>
            <a:chExt cx="4321143" cy="3385174"/>
          </a:xfrm>
        </p:grpSpPr>
        <p:grpSp>
          <p:nvGrpSpPr>
            <p:cNvPr id="6" name="Groupe 5">
              <a:extLst>
                <a:ext uri="{FF2B5EF4-FFF2-40B4-BE49-F238E27FC236}">
                  <a16:creationId xmlns:a16="http://schemas.microsoft.com/office/drawing/2014/main" id="{52964B4E-923F-47BA-83D7-3141FF0E8FC6}"/>
                </a:ext>
              </a:extLst>
            </p:cNvPr>
            <p:cNvGrpSpPr/>
            <p:nvPr/>
          </p:nvGrpSpPr>
          <p:grpSpPr>
            <a:xfrm>
              <a:off x="278939" y="1619764"/>
              <a:ext cx="4141230" cy="2077492"/>
              <a:chOff x="278939" y="1619764"/>
              <a:chExt cx="4141230" cy="2077492"/>
            </a:xfrm>
          </p:grpSpPr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533CDC9B-A826-42B1-95C3-7A2128FF542A}"/>
                  </a:ext>
                </a:extLst>
              </p:cNvPr>
              <p:cNvSpPr txBox="1"/>
              <p:nvPr/>
            </p:nvSpPr>
            <p:spPr>
              <a:xfrm>
                <a:off x="278939" y="1619764"/>
                <a:ext cx="4045338" cy="20774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fr-F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Tout réparer - Gratuit et sans inscription</a:t>
                </a:r>
              </a:p>
              <a:p>
                <a:pPr algn="ctr"/>
                <a:r>
                  <a:rPr lang="fr-F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Mercredi 14h à 17h30</a:t>
                </a:r>
              </a:p>
              <a:p>
                <a:pPr algn="ctr"/>
                <a:r>
                  <a:rPr lang="fr-F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Samedi 9h30 à 12h</a:t>
                </a:r>
              </a:p>
              <a:p>
                <a:pPr algn="ctr"/>
                <a:endParaRPr lang="fr-FR" sz="105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fr-FR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Maison des Muses</a:t>
                </a:r>
              </a:p>
              <a:p>
                <a:r>
                  <a:rPr lang="fr-FR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7b avenue Saint Laurent</a:t>
                </a:r>
              </a:p>
              <a:p>
                <a:r>
                  <a:rPr lang="fr-FR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Orsay</a:t>
                </a:r>
              </a:p>
              <a:p>
                <a:endParaRPr lang="fr-FR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fr-FR" sz="1200" u="sng" dirty="0">
                    <a:latin typeface="Arial" panose="020B0604020202020204" pitchFamily="34" charset="0"/>
                    <a:cs typeface="Arial" panose="020B0604020202020204" pitchFamily="34" charset="0"/>
                  </a:rPr>
                  <a:t>https://www.repaircafe-orsay.org/</a:t>
                </a:r>
              </a:p>
              <a:p>
                <a:endParaRPr lang="fr-FR" sz="105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5" name="Image 4">
                <a:extLst>
                  <a:ext uri="{FF2B5EF4-FFF2-40B4-BE49-F238E27FC236}">
                    <a16:creationId xmlns:a16="http://schemas.microsoft.com/office/drawing/2014/main" id="{8BFCC1E9-F32E-4E6E-823F-0D82BD2F36F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299301" y="2439347"/>
                <a:ext cx="1120868" cy="1110294"/>
              </a:xfrm>
              <a:prstGeom prst="rect">
                <a:avLst/>
              </a:prstGeom>
            </p:spPr>
          </p:pic>
        </p:grpSp>
        <p:pic>
          <p:nvPicPr>
            <p:cNvPr id="14" name="Image 13">
              <a:extLst>
                <a:ext uri="{FF2B5EF4-FFF2-40B4-BE49-F238E27FC236}">
                  <a16:creationId xmlns:a16="http://schemas.microsoft.com/office/drawing/2014/main" id="{46FCC9A5-02D8-4AE4-917E-0BF07EB223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1036" y="312082"/>
              <a:ext cx="4321143" cy="1191744"/>
            </a:xfrm>
            <a:prstGeom prst="rect">
              <a:avLst/>
            </a:prstGeom>
          </p:spPr>
        </p:pic>
      </p:grp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3614557A-FE2F-442E-B71A-EF23AE0A4093}"/>
              </a:ext>
            </a:extLst>
          </p:cNvPr>
          <p:cNvGrpSpPr/>
          <p:nvPr/>
        </p:nvGrpSpPr>
        <p:grpSpPr>
          <a:xfrm>
            <a:off x="5104834" y="77302"/>
            <a:ext cx="4321143" cy="3442840"/>
            <a:chOff x="141036" y="312082"/>
            <a:chExt cx="4321143" cy="3442840"/>
          </a:xfrm>
        </p:grpSpPr>
        <p:grpSp>
          <p:nvGrpSpPr>
            <p:cNvPr id="18" name="Groupe 17">
              <a:extLst>
                <a:ext uri="{FF2B5EF4-FFF2-40B4-BE49-F238E27FC236}">
                  <a16:creationId xmlns:a16="http://schemas.microsoft.com/office/drawing/2014/main" id="{EE5B0327-9DC4-4BD4-9BD1-9F8442571334}"/>
                </a:ext>
              </a:extLst>
            </p:cNvPr>
            <p:cNvGrpSpPr/>
            <p:nvPr/>
          </p:nvGrpSpPr>
          <p:grpSpPr>
            <a:xfrm>
              <a:off x="278939" y="1677430"/>
              <a:ext cx="4141230" cy="2077492"/>
              <a:chOff x="278939" y="1677430"/>
              <a:chExt cx="4141230" cy="2077492"/>
            </a:xfrm>
          </p:grpSpPr>
          <p:sp>
            <p:nvSpPr>
              <p:cNvPr id="20" name="ZoneTexte 19">
                <a:extLst>
                  <a:ext uri="{FF2B5EF4-FFF2-40B4-BE49-F238E27FC236}">
                    <a16:creationId xmlns:a16="http://schemas.microsoft.com/office/drawing/2014/main" id="{31A7BE97-DE46-47B9-9D07-E1B66C700E53}"/>
                  </a:ext>
                </a:extLst>
              </p:cNvPr>
              <p:cNvSpPr txBox="1"/>
              <p:nvPr/>
            </p:nvSpPr>
            <p:spPr>
              <a:xfrm>
                <a:off x="278939" y="1677430"/>
                <a:ext cx="4045338" cy="20774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fr-F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Tout réparer - Gratuit et sans inscription</a:t>
                </a:r>
              </a:p>
              <a:p>
                <a:pPr algn="ctr"/>
                <a:r>
                  <a:rPr lang="fr-F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Mercredi 14h à 17h30</a:t>
                </a:r>
              </a:p>
              <a:p>
                <a:pPr algn="ctr"/>
                <a:r>
                  <a:rPr lang="fr-F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Samedi 9h30 à 12h</a:t>
                </a:r>
              </a:p>
              <a:p>
                <a:pPr algn="ctr"/>
                <a:endParaRPr lang="fr-FR" sz="105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fr-FR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Maison des Muses</a:t>
                </a:r>
              </a:p>
              <a:p>
                <a:r>
                  <a:rPr lang="fr-FR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7b avenue Saint Laurent</a:t>
                </a:r>
              </a:p>
              <a:p>
                <a:r>
                  <a:rPr lang="fr-FR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Orsay</a:t>
                </a:r>
              </a:p>
              <a:p>
                <a:endParaRPr lang="fr-FR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fr-FR" sz="1200" u="sng" dirty="0">
                    <a:latin typeface="Arial" panose="020B0604020202020204" pitchFamily="34" charset="0"/>
                    <a:cs typeface="Arial" panose="020B0604020202020204" pitchFamily="34" charset="0"/>
                  </a:rPr>
                  <a:t>https://www.repaircafe-orsay.org/</a:t>
                </a:r>
              </a:p>
              <a:p>
                <a:endParaRPr lang="fr-FR" sz="105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21" name="Image 20">
                <a:extLst>
                  <a:ext uri="{FF2B5EF4-FFF2-40B4-BE49-F238E27FC236}">
                    <a16:creationId xmlns:a16="http://schemas.microsoft.com/office/drawing/2014/main" id="{A515C917-CD99-4BBD-ABFF-BD57990ADD0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299301" y="2497012"/>
                <a:ext cx="1120868" cy="1110294"/>
              </a:xfrm>
              <a:prstGeom prst="rect">
                <a:avLst/>
              </a:prstGeom>
            </p:spPr>
          </p:pic>
        </p:grpSp>
        <p:pic>
          <p:nvPicPr>
            <p:cNvPr id="19" name="Image 18">
              <a:extLst>
                <a:ext uri="{FF2B5EF4-FFF2-40B4-BE49-F238E27FC236}">
                  <a16:creationId xmlns:a16="http://schemas.microsoft.com/office/drawing/2014/main" id="{B0FD1198-212C-4583-855E-1E9311EEC6F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1036" y="312082"/>
              <a:ext cx="4321143" cy="1191744"/>
            </a:xfrm>
            <a:prstGeom prst="rect">
              <a:avLst/>
            </a:prstGeom>
          </p:spPr>
        </p:pic>
      </p:grpSp>
      <p:grpSp>
        <p:nvGrpSpPr>
          <p:cNvPr id="22" name="Groupe 21">
            <a:extLst>
              <a:ext uri="{FF2B5EF4-FFF2-40B4-BE49-F238E27FC236}">
                <a16:creationId xmlns:a16="http://schemas.microsoft.com/office/drawing/2014/main" id="{66084732-273B-4006-B5BB-8445146A6FED}"/>
              </a:ext>
            </a:extLst>
          </p:cNvPr>
          <p:cNvGrpSpPr/>
          <p:nvPr/>
        </p:nvGrpSpPr>
        <p:grpSpPr>
          <a:xfrm>
            <a:off x="480023" y="3520142"/>
            <a:ext cx="4321143" cy="3442840"/>
            <a:chOff x="141036" y="312082"/>
            <a:chExt cx="4321143" cy="3442840"/>
          </a:xfrm>
        </p:grpSpPr>
        <p:grpSp>
          <p:nvGrpSpPr>
            <p:cNvPr id="23" name="Groupe 22">
              <a:extLst>
                <a:ext uri="{FF2B5EF4-FFF2-40B4-BE49-F238E27FC236}">
                  <a16:creationId xmlns:a16="http://schemas.microsoft.com/office/drawing/2014/main" id="{8D2D6E05-66A7-4932-9DA0-43C11C65EA6B}"/>
                </a:ext>
              </a:extLst>
            </p:cNvPr>
            <p:cNvGrpSpPr/>
            <p:nvPr/>
          </p:nvGrpSpPr>
          <p:grpSpPr>
            <a:xfrm>
              <a:off x="278939" y="1677430"/>
              <a:ext cx="4141230" cy="2077492"/>
              <a:chOff x="278939" y="1677430"/>
              <a:chExt cx="4141230" cy="2077492"/>
            </a:xfrm>
          </p:grpSpPr>
          <p:sp>
            <p:nvSpPr>
              <p:cNvPr id="25" name="ZoneTexte 24">
                <a:extLst>
                  <a:ext uri="{FF2B5EF4-FFF2-40B4-BE49-F238E27FC236}">
                    <a16:creationId xmlns:a16="http://schemas.microsoft.com/office/drawing/2014/main" id="{904AAE13-5CCD-4480-8E69-EFF9A3C207C7}"/>
                  </a:ext>
                </a:extLst>
              </p:cNvPr>
              <p:cNvSpPr txBox="1"/>
              <p:nvPr/>
            </p:nvSpPr>
            <p:spPr>
              <a:xfrm>
                <a:off x="278939" y="1677430"/>
                <a:ext cx="4045338" cy="20774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fr-F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Tout réparer - Gratuit et sans inscription</a:t>
                </a:r>
              </a:p>
              <a:p>
                <a:pPr algn="ctr"/>
                <a:r>
                  <a:rPr lang="fr-F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Mercredi 14h à 17h30</a:t>
                </a:r>
              </a:p>
              <a:p>
                <a:pPr algn="ctr"/>
                <a:r>
                  <a:rPr lang="fr-F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Samedi 9h30 à 12h</a:t>
                </a:r>
              </a:p>
              <a:p>
                <a:pPr algn="ctr"/>
                <a:endParaRPr lang="fr-FR" sz="105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fr-FR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Maison des Muses</a:t>
                </a:r>
              </a:p>
              <a:p>
                <a:r>
                  <a:rPr lang="fr-FR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7b avenue Saint Laurent</a:t>
                </a:r>
              </a:p>
              <a:p>
                <a:r>
                  <a:rPr lang="fr-FR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Orsay</a:t>
                </a:r>
              </a:p>
              <a:p>
                <a:endParaRPr lang="fr-FR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fr-FR" sz="1200" u="sng" dirty="0">
                    <a:latin typeface="Arial" panose="020B0604020202020204" pitchFamily="34" charset="0"/>
                    <a:cs typeface="Arial" panose="020B0604020202020204" pitchFamily="34" charset="0"/>
                  </a:rPr>
                  <a:t>https://www.repaircafe-orsay.org/</a:t>
                </a:r>
              </a:p>
              <a:p>
                <a:endParaRPr lang="fr-FR" sz="105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26" name="Image 25">
                <a:extLst>
                  <a:ext uri="{FF2B5EF4-FFF2-40B4-BE49-F238E27FC236}">
                    <a16:creationId xmlns:a16="http://schemas.microsoft.com/office/drawing/2014/main" id="{E54E5712-3EC6-437B-A799-09138E41A65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299301" y="2398159"/>
                <a:ext cx="1120868" cy="1110294"/>
              </a:xfrm>
              <a:prstGeom prst="rect">
                <a:avLst/>
              </a:prstGeom>
            </p:spPr>
          </p:pic>
        </p:grpSp>
        <p:pic>
          <p:nvPicPr>
            <p:cNvPr id="24" name="Image 23">
              <a:extLst>
                <a:ext uri="{FF2B5EF4-FFF2-40B4-BE49-F238E27FC236}">
                  <a16:creationId xmlns:a16="http://schemas.microsoft.com/office/drawing/2014/main" id="{17F2D286-1BEE-4893-A8E6-BEB6A096D67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1036" y="312082"/>
              <a:ext cx="4321143" cy="1191744"/>
            </a:xfrm>
            <a:prstGeom prst="rect">
              <a:avLst/>
            </a:prstGeom>
          </p:spPr>
        </p:pic>
      </p:grpSp>
      <p:grpSp>
        <p:nvGrpSpPr>
          <p:cNvPr id="27" name="Groupe 26">
            <a:extLst>
              <a:ext uri="{FF2B5EF4-FFF2-40B4-BE49-F238E27FC236}">
                <a16:creationId xmlns:a16="http://schemas.microsoft.com/office/drawing/2014/main" id="{DC91C39D-9EA2-445F-B7DA-BEA3B3C2299C}"/>
              </a:ext>
            </a:extLst>
          </p:cNvPr>
          <p:cNvGrpSpPr/>
          <p:nvPr/>
        </p:nvGrpSpPr>
        <p:grpSpPr>
          <a:xfrm>
            <a:off x="4966932" y="3617340"/>
            <a:ext cx="4321143" cy="3442840"/>
            <a:chOff x="141036" y="312082"/>
            <a:chExt cx="4321143" cy="3442840"/>
          </a:xfrm>
        </p:grpSpPr>
        <p:grpSp>
          <p:nvGrpSpPr>
            <p:cNvPr id="28" name="Groupe 27">
              <a:extLst>
                <a:ext uri="{FF2B5EF4-FFF2-40B4-BE49-F238E27FC236}">
                  <a16:creationId xmlns:a16="http://schemas.microsoft.com/office/drawing/2014/main" id="{ADCECF2D-BAFB-4876-B7F4-020FB5979141}"/>
                </a:ext>
              </a:extLst>
            </p:cNvPr>
            <p:cNvGrpSpPr/>
            <p:nvPr/>
          </p:nvGrpSpPr>
          <p:grpSpPr>
            <a:xfrm>
              <a:off x="278939" y="1677430"/>
              <a:ext cx="4141230" cy="2077492"/>
              <a:chOff x="278939" y="1677430"/>
              <a:chExt cx="4141230" cy="2077492"/>
            </a:xfrm>
          </p:grpSpPr>
          <p:sp>
            <p:nvSpPr>
              <p:cNvPr id="30" name="ZoneTexte 29">
                <a:extLst>
                  <a:ext uri="{FF2B5EF4-FFF2-40B4-BE49-F238E27FC236}">
                    <a16:creationId xmlns:a16="http://schemas.microsoft.com/office/drawing/2014/main" id="{01407B31-4C22-4E50-B9AC-9A54258ED327}"/>
                  </a:ext>
                </a:extLst>
              </p:cNvPr>
              <p:cNvSpPr txBox="1"/>
              <p:nvPr/>
            </p:nvSpPr>
            <p:spPr>
              <a:xfrm>
                <a:off x="278939" y="1677430"/>
                <a:ext cx="4045338" cy="20774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fr-F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Tout réparer - Gratuit et sans inscription</a:t>
                </a:r>
              </a:p>
              <a:p>
                <a:pPr algn="ctr"/>
                <a:r>
                  <a:rPr lang="fr-F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Mercredi 14h à 17h30</a:t>
                </a:r>
              </a:p>
              <a:p>
                <a:pPr algn="ctr"/>
                <a:r>
                  <a:rPr lang="fr-F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Samedi 9h30 à 12h</a:t>
                </a:r>
              </a:p>
              <a:p>
                <a:pPr algn="ctr"/>
                <a:endParaRPr lang="fr-FR" sz="105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fr-FR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Maison des Muses</a:t>
                </a:r>
              </a:p>
              <a:p>
                <a:r>
                  <a:rPr lang="fr-FR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7b avenue Saint Laurent</a:t>
                </a:r>
              </a:p>
              <a:p>
                <a:r>
                  <a:rPr lang="fr-FR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Orsay</a:t>
                </a:r>
              </a:p>
              <a:p>
                <a:endParaRPr lang="fr-FR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fr-FR" sz="1200" u="sng" dirty="0">
                    <a:latin typeface="Arial" panose="020B0604020202020204" pitchFamily="34" charset="0"/>
                    <a:cs typeface="Arial" panose="020B0604020202020204" pitchFamily="34" charset="0"/>
                  </a:rPr>
                  <a:t>https://www.repaircafe-orsay.org/</a:t>
                </a:r>
              </a:p>
              <a:p>
                <a:endParaRPr lang="fr-FR" sz="105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31" name="Image 30">
                <a:extLst>
                  <a:ext uri="{FF2B5EF4-FFF2-40B4-BE49-F238E27FC236}">
                    <a16:creationId xmlns:a16="http://schemas.microsoft.com/office/drawing/2014/main" id="{3B62D2DC-7930-4EE9-9B2D-3FF38D96D88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299301" y="2365208"/>
                <a:ext cx="1120868" cy="1110294"/>
              </a:xfrm>
              <a:prstGeom prst="rect">
                <a:avLst/>
              </a:prstGeom>
            </p:spPr>
          </p:pic>
        </p:grpSp>
        <p:pic>
          <p:nvPicPr>
            <p:cNvPr id="29" name="Image 28">
              <a:extLst>
                <a:ext uri="{FF2B5EF4-FFF2-40B4-BE49-F238E27FC236}">
                  <a16:creationId xmlns:a16="http://schemas.microsoft.com/office/drawing/2014/main" id="{760BFDF0-43F5-4DC9-8341-77FA50F58F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1036" y="312082"/>
              <a:ext cx="4321143" cy="119174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133563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e 14">
            <a:extLst>
              <a:ext uri="{FF2B5EF4-FFF2-40B4-BE49-F238E27FC236}">
                <a16:creationId xmlns:a16="http://schemas.microsoft.com/office/drawing/2014/main" id="{1B4C5D16-CBEA-4BA5-B957-12E13E4FA484}"/>
              </a:ext>
            </a:extLst>
          </p:cNvPr>
          <p:cNvGrpSpPr/>
          <p:nvPr/>
        </p:nvGrpSpPr>
        <p:grpSpPr>
          <a:xfrm>
            <a:off x="617927" y="77302"/>
            <a:ext cx="4321143" cy="3385174"/>
            <a:chOff x="141036" y="312082"/>
            <a:chExt cx="4321143" cy="3385174"/>
          </a:xfrm>
        </p:grpSpPr>
        <p:grpSp>
          <p:nvGrpSpPr>
            <p:cNvPr id="6" name="Groupe 5">
              <a:extLst>
                <a:ext uri="{FF2B5EF4-FFF2-40B4-BE49-F238E27FC236}">
                  <a16:creationId xmlns:a16="http://schemas.microsoft.com/office/drawing/2014/main" id="{52964B4E-923F-47BA-83D7-3141FF0E8FC6}"/>
                </a:ext>
              </a:extLst>
            </p:cNvPr>
            <p:cNvGrpSpPr/>
            <p:nvPr/>
          </p:nvGrpSpPr>
          <p:grpSpPr>
            <a:xfrm>
              <a:off x="278939" y="1619764"/>
              <a:ext cx="4141230" cy="2077492"/>
              <a:chOff x="278939" y="1619764"/>
              <a:chExt cx="4141230" cy="2077492"/>
            </a:xfrm>
          </p:grpSpPr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533CDC9B-A826-42B1-95C3-7A2128FF542A}"/>
                  </a:ext>
                </a:extLst>
              </p:cNvPr>
              <p:cNvSpPr txBox="1"/>
              <p:nvPr/>
            </p:nvSpPr>
            <p:spPr>
              <a:xfrm>
                <a:off x="278939" y="1619764"/>
                <a:ext cx="4045338" cy="20774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fr-F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Tout réparer - Gratuit et sans inscription</a:t>
                </a:r>
              </a:p>
              <a:p>
                <a:pPr algn="ctr"/>
                <a:r>
                  <a:rPr lang="fr-F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Mercredi 14h à 17h30</a:t>
                </a:r>
              </a:p>
              <a:p>
                <a:pPr algn="ctr"/>
                <a:r>
                  <a:rPr lang="fr-F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Samedi 9h30 à 12h</a:t>
                </a:r>
              </a:p>
              <a:p>
                <a:pPr algn="ctr"/>
                <a:endParaRPr lang="fr-FR" sz="105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fr-FR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Maison des Muses</a:t>
                </a:r>
              </a:p>
              <a:p>
                <a:r>
                  <a:rPr lang="fr-FR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7b avenue Saint Laurent</a:t>
                </a:r>
              </a:p>
              <a:p>
                <a:r>
                  <a:rPr lang="fr-FR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Orsay</a:t>
                </a:r>
              </a:p>
              <a:p>
                <a:endParaRPr lang="fr-FR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fr-FR" sz="1200" u="sng" dirty="0">
                    <a:latin typeface="Arial" panose="020B0604020202020204" pitchFamily="34" charset="0"/>
                    <a:cs typeface="Arial" panose="020B0604020202020204" pitchFamily="34" charset="0"/>
                  </a:rPr>
                  <a:t>https://www.repaircafe-orsay.org/</a:t>
                </a:r>
              </a:p>
              <a:p>
                <a:endParaRPr lang="fr-FR" sz="105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5" name="Image 4">
                <a:extLst>
                  <a:ext uri="{FF2B5EF4-FFF2-40B4-BE49-F238E27FC236}">
                    <a16:creationId xmlns:a16="http://schemas.microsoft.com/office/drawing/2014/main" id="{8BFCC1E9-F32E-4E6E-823F-0D82BD2F36F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299301" y="2439347"/>
                <a:ext cx="1120868" cy="1110294"/>
              </a:xfrm>
              <a:prstGeom prst="rect">
                <a:avLst/>
              </a:prstGeom>
            </p:spPr>
          </p:pic>
        </p:grpSp>
        <p:pic>
          <p:nvPicPr>
            <p:cNvPr id="14" name="Image 13">
              <a:extLst>
                <a:ext uri="{FF2B5EF4-FFF2-40B4-BE49-F238E27FC236}">
                  <a16:creationId xmlns:a16="http://schemas.microsoft.com/office/drawing/2014/main" id="{46FCC9A5-02D8-4AE4-917E-0BF07EB223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1036" y="312082"/>
              <a:ext cx="4321143" cy="1191744"/>
            </a:xfrm>
            <a:prstGeom prst="rect">
              <a:avLst/>
            </a:prstGeom>
          </p:spPr>
        </p:pic>
      </p:grp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3614557A-FE2F-442E-B71A-EF23AE0A4093}"/>
              </a:ext>
            </a:extLst>
          </p:cNvPr>
          <p:cNvGrpSpPr/>
          <p:nvPr/>
        </p:nvGrpSpPr>
        <p:grpSpPr>
          <a:xfrm>
            <a:off x="5104834" y="77302"/>
            <a:ext cx="4321143" cy="3442840"/>
            <a:chOff x="141036" y="312082"/>
            <a:chExt cx="4321143" cy="3442840"/>
          </a:xfrm>
        </p:grpSpPr>
        <p:grpSp>
          <p:nvGrpSpPr>
            <p:cNvPr id="18" name="Groupe 17">
              <a:extLst>
                <a:ext uri="{FF2B5EF4-FFF2-40B4-BE49-F238E27FC236}">
                  <a16:creationId xmlns:a16="http://schemas.microsoft.com/office/drawing/2014/main" id="{EE5B0327-9DC4-4BD4-9BD1-9F8442571334}"/>
                </a:ext>
              </a:extLst>
            </p:cNvPr>
            <p:cNvGrpSpPr/>
            <p:nvPr/>
          </p:nvGrpSpPr>
          <p:grpSpPr>
            <a:xfrm>
              <a:off x="278939" y="1677430"/>
              <a:ext cx="4141230" cy="2077492"/>
              <a:chOff x="278939" y="1677430"/>
              <a:chExt cx="4141230" cy="2077492"/>
            </a:xfrm>
          </p:grpSpPr>
          <p:sp>
            <p:nvSpPr>
              <p:cNvPr id="20" name="ZoneTexte 19">
                <a:extLst>
                  <a:ext uri="{FF2B5EF4-FFF2-40B4-BE49-F238E27FC236}">
                    <a16:creationId xmlns:a16="http://schemas.microsoft.com/office/drawing/2014/main" id="{31A7BE97-DE46-47B9-9D07-E1B66C700E53}"/>
                  </a:ext>
                </a:extLst>
              </p:cNvPr>
              <p:cNvSpPr txBox="1"/>
              <p:nvPr/>
            </p:nvSpPr>
            <p:spPr>
              <a:xfrm>
                <a:off x="278939" y="1677430"/>
                <a:ext cx="4045338" cy="20774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fr-F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Tout réparer - Gratuit et sans inscription</a:t>
                </a:r>
              </a:p>
              <a:p>
                <a:pPr algn="ctr"/>
                <a:r>
                  <a:rPr lang="fr-F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Mercredi 14h à 17h30</a:t>
                </a:r>
              </a:p>
              <a:p>
                <a:pPr algn="ctr"/>
                <a:r>
                  <a:rPr lang="fr-F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Samedi 9h30 à 12h</a:t>
                </a:r>
              </a:p>
              <a:p>
                <a:pPr algn="ctr"/>
                <a:endParaRPr lang="fr-FR" sz="105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fr-FR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Maison des Muses</a:t>
                </a:r>
              </a:p>
              <a:p>
                <a:r>
                  <a:rPr lang="fr-FR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7b avenue Saint Laurent</a:t>
                </a:r>
              </a:p>
              <a:p>
                <a:r>
                  <a:rPr lang="fr-FR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Orsay</a:t>
                </a:r>
              </a:p>
              <a:p>
                <a:endParaRPr lang="fr-FR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fr-FR" sz="1200" u="sng" dirty="0">
                    <a:latin typeface="Arial" panose="020B0604020202020204" pitchFamily="34" charset="0"/>
                    <a:cs typeface="Arial" panose="020B0604020202020204" pitchFamily="34" charset="0"/>
                  </a:rPr>
                  <a:t>https://www.repaircafe-orsay.org/</a:t>
                </a:r>
              </a:p>
              <a:p>
                <a:endParaRPr lang="fr-FR" sz="105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21" name="Image 20">
                <a:extLst>
                  <a:ext uri="{FF2B5EF4-FFF2-40B4-BE49-F238E27FC236}">
                    <a16:creationId xmlns:a16="http://schemas.microsoft.com/office/drawing/2014/main" id="{A515C917-CD99-4BBD-ABFF-BD57990ADD0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299301" y="2497012"/>
                <a:ext cx="1120868" cy="1110294"/>
              </a:xfrm>
              <a:prstGeom prst="rect">
                <a:avLst/>
              </a:prstGeom>
            </p:spPr>
          </p:pic>
        </p:grpSp>
        <p:pic>
          <p:nvPicPr>
            <p:cNvPr id="19" name="Image 18">
              <a:extLst>
                <a:ext uri="{FF2B5EF4-FFF2-40B4-BE49-F238E27FC236}">
                  <a16:creationId xmlns:a16="http://schemas.microsoft.com/office/drawing/2014/main" id="{B0FD1198-212C-4583-855E-1E9311EEC6F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1036" y="312082"/>
              <a:ext cx="4321143" cy="1191744"/>
            </a:xfrm>
            <a:prstGeom prst="rect">
              <a:avLst/>
            </a:prstGeom>
          </p:spPr>
        </p:pic>
      </p:grpSp>
      <p:grpSp>
        <p:nvGrpSpPr>
          <p:cNvPr id="22" name="Groupe 21">
            <a:extLst>
              <a:ext uri="{FF2B5EF4-FFF2-40B4-BE49-F238E27FC236}">
                <a16:creationId xmlns:a16="http://schemas.microsoft.com/office/drawing/2014/main" id="{66084732-273B-4006-B5BB-8445146A6FED}"/>
              </a:ext>
            </a:extLst>
          </p:cNvPr>
          <p:cNvGrpSpPr/>
          <p:nvPr/>
        </p:nvGrpSpPr>
        <p:grpSpPr>
          <a:xfrm>
            <a:off x="480023" y="3520142"/>
            <a:ext cx="4321143" cy="3442840"/>
            <a:chOff x="141036" y="312082"/>
            <a:chExt cx="4321143" cy="3442840"/>
          </a:xfrm>
        </p:grpSpPr>
        <p:grpSp>
          <p:nvGrpSpPr>
            <p:cNvPr id="23" name="Groupe 22">
              <a:extLst>
                <a:ext uri="{FF2B5EF4-FFF2-40B4-BE49-F238E27FC236}">
                  <a16:creationId xmlns:a16="http://schemas.microsoft.com/office/drawing/2014/main" id="{8D2D6E05-66A7-4932-9DA0-43C11C65EA6B}"/>
                </a:ext>
              </a:extLst>
            </p:cNvPr>
            <p:cNvGrpSpPr/>
            <p:nvPr/>
          </p:nvGrpSpPr>
          <p:grpSpPr>
            <a:xfrm>
              <a:off x="278939" y="1677430"/>
              <a:ext cx="4141230" cy="2077492"/>
              <a:chOff x="278939" y="1677430"/>
              <a:chExt cx="4141230" cy="2077492"/>
            </a:xfrm>
          </p:grpSpPr>
          <p:sp>
            <p:nvSpPr>
              <p:cNvPr id="25" name="ZoneTexte 24">
                <a:extLst>
                  <a:ext uri="{FF2B5EF4-FFF2-40B4-BE49-F238E27FC236}">
                    <a16:creationId xmlns:a16="http://schemas.microsoft.com/office/drawing/2014/main" id="{904AAE13-5CCD-4480-8E69-EFF9A3C207C7}"/>
                  </a:ext>
                </a:extLst>
              </p:cNvPr>
              <p:cNvSpPr txBox="1"/>
              <p:nvPr/>
            </p:nvSpPr>
            <p:spPr>
              <a:xfrm>
                <a:off x="278939" y="1677430"/>
                <a:ext cx="4045338" cy="20774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fr-F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Tout réparer - Gratuit et sans inscription</a:t>
                </a:r>
              </a:p>
              <a:p>
                <a:pPr algn="ctr"/>
                <a:r>
                  <a:rPr lang="fr-F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Mercredi 14h à 17h30</a:t>
                </a:r>
              </a:p>
              <a:p>
                <a:pPr algn="ctr"/>
                <a:r>
                  <a:rPr lang="fr-F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Samedi 9h30 à 12h</a:t>
                </a:r>
              </a:p>
              <a:p>
                <a:pPr algn="ctr"/>
                <a:endParaRPr lang="fr-FR" sz="105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fr-FR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Maison des Muses</a:t>
                </a:r>
              </a:p>
              <a:p>
                <a:r>
                  <a:rPr lang="fr-FR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7b avenue Saint Laurent</a:t>
                </a:r>
              </a:p>
              <a:p>
                <a:r>
                  <a:rPr lang="fr-FR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Orsay</a:t>
                </a:r>
              </a:p>
              <a:p>
                <a:endParaRPr lang="fr-FR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fr-FR" sz="1200" u="sng" dirty="0">
                    <a:latin typeface="Arial" panose="020B0604020202020204" pitchFamily="34" charset="0"/>
                    <a:cs typeface="Arial" panose="020B0604020202020204" pitchFamily="34" charset="0"/>
                  </a:rPr>
                  <a:t>https://www.repaircafe-orsay.org/</a:t>
                </a:r>
              </a:p>
              <a:p>
                <a:endParaRPr lang="fr-FR" sz="105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26" name="Image 25">
                <a:extLst>
                  <a:ext uri="{FF2B5EF4-FFF2-40B4-BE49-F238E27FC236}">
                    <a16:creationId xmlns:a16="http://schemas.microsoft.com/office/drawing/2014/main" id="{E54E5712-3EC6-437B-A799-09138E41A65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299301" y="2398159"/>
                <a:ext cx="1120868" cy="1110294"/>
              </a:xfrm>
              <a:prstGeom prst="rect">
                <a:avLst/>
              </a:prstGeom>
            </p:spPr>
          </p:pic>
        </p:grpSp>
        <p:pic>
          <p:nvPicPr>
            <p:cNvPr id="24" name="Image 23">
              <a:extLst>
                <a:ext uri="{FF2B5EF4-FFF2-40B4-BE49-F238E27FC236}">
                  <a16:creationId xmlns:a16="http://schemas.microsoft.com/office/drawing/2014/main" id="{17F2D286-1BEE-4893-A8E6-BEB6A096D67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1036" y="312082"/>
              <a:ext cx="4321143" cy="1191744"/>
            </a:xfrm>
            <a:prstGeom prst="rect">
              <a:avLst/>
            </a:prstGeom>
          </p:spPr>
        </p:pic>
      </p:grpSp>
      <p:grpSp>
        <p:nvGrpSpPr>
          <p:cNvPr id="27" name="Groupe 26">
            <a:extLst>
              <a:ext uri="{FF2B5EF4-FFF2-40B4-BE49-F238E27FC236}">
                <a16:creationId xmlns:a16="http://schemas.microsoft.com/office/drawing/2014/main" id="{DC91C39D-9EA2-445F-B7DA-BEA3B3C2299C}"/>
              </a:ext>
            </a:extLst>
          </p:cNvPr>
          <p:cNvGrpSpPr/>
          <p:nvPr/>
        </p:nvGrpSpPr>
        <p:grpSpPr>
          <a:xfrm>
            <a:off x="4966932" y="3617340"/>
            <a:ext cx="4321143" cy="3442840"/>
            <a:chOff x="141036" y="312082"/>
            <a:chExt cx="4321143" cy="3442840"/>
          </a:xfrm>
        </p:grpSpPr>
        <p:grpSp>
          <p:nvGrpSpPr>
            <p:cNvPr id="28" name="Groupe 27">
              <a:extLst>
                <a:ext uri="{FF2B5EF4-FFF2-40B4-BE49-F238E27FC236}">
                  <a16:creationId xmlns:a16="http://schemas.microsoft.com/office/drawing/2014/main" id="{ADCECF2D-BAFB-4876-B7F4-020FB5979141}"/>
                </a:ext>
              </a:extLst>
            </p:cNvPr>
            <p:cNvGrpSpPr/>
            <p:nvPr/>
          </p:nvGrpSpPr>
          <p:grpSpPr>
            <a:xfrm>
              <a:off x="278939" y="1677430"/>
              <a:ext cx="4141230" cy="2077492"/>
              <a:chOff x="278939" y="1677430"/>
              <a:chExt cx="4141230" cy="2077492"/>
            </a:xfrm>
          </p:grpSpPr>
          <p:sp>
            <p:nvSpPr>
              <p:cNvPr id="30" name="ZoneTexte 29">
                <a:extLst>
                  <a:ext uri="{FF2B5EF4-FFF2-40B4-BE49-F238E27FC236}">
                    <a16:creationId xmlns:a16="http://schemas.microsoft.com/office/drawing/2014/main" id="{01407B31-4C22-4E50-B9AC-9A54258ED327}"/>
                  </a:ext>
                </a:extLst>
              </p:cNvPr>
              <p:cNvSpPr txBox="1"/>
              <p:nvPr/>
            </p:nvSpPr>
            <p:spPr>
              <a:xfrm>
                <a:off x="278939" y="1677430"/>
                <a:ext cx="4045338" cy="20774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fr-F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Tout réparer - Gratuit et sans inscription</a:t>
                </a:r>
              </a:p>
              <a:p>
                <a:pPr algn="ctr"/>
                <a:r>
                  <a:rPr lang="fr-F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Mercredi 14h à 17h30</a:t>
                </a:r>
              </a:p>
              <a:p>
                <a:pPr algn="ctr"/>
                <a:r>
                  <a:rPr lang="fr-F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Samedi 9h30 à 12h</a:t>
                </a:r>
              </a:p>
              <a:p>
                <a:pPr algn="ctr"/>
                <a:endParaRPr lang="fr-FR" sz="105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fr-FR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Maison des Muses</a:t>
                </a:r>
              </a:p>
              <a:p>
                <a:r>
                  <a:rPr lang="fr-FR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7b avenue Saint Laurent</a:t>
                </a:r>
              </a:p>
              <a:p>
                <a:r>
                  <a:rPr lang="fr-FR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Orsay</a:t>
                </a:r>
              </a:p>
              <a:p>
                <a:endParaRPr lang="fr-FR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fr-FR" sz="1200" u="sng" dirty="0">
                    <a:latin typeface="Arial" panose="020B0604020202020204" pitchFamily="34" charset="0"/>
                    <a:cs typeface="Arial" panose="020B0604020202020204" pitchFamily="34" charset="0"/>
                  </a:rPr>
                  <a:t>https://www.repaircafe-orsay.org/</a:t>
                </a:r>
              </a:p>
              <a:p>
                <a:endParaRPr lang="fr-FR" sz="105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31" name="Image 30">
                <a:extLst>
                  <a:ext uri="{FF2B5EF4-FFF2-40B4-BE49-F238E27FC236}">
                    <a16:creationId xmlns:a16="http://schemas.microsoft.com/office/drawing/2014/main" id="{3B62D2DC-7930-4EE9-9B2D-3FF38D96D88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299301" y="2365208"/>
                <a:ext cx="1120868" cy="1110294"/>
              </a:xfrm>
              <a:prstGeom prst="rect">
                <a:avLst/>
              </a:prstGeom>
            </p:spPr>
          </p:pic>
        </p:grpSp>
        <p:pic>
          <p:nvPicPr>
            <p:cNvPr id="29" name="Image 28">
              <a:extLst>
                <a:ext uri="{FF2B5EF4-FFF2-40B4-BE49-F238E27FC236}">
                  <a16:creationId xmlns:a16="http://schemas.microsoft.com/office/drawing/2014/main" id="{760BFDF0-43F5-4DC9-8341-77FA50F58F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1036" y="312082"/>
              <a:ext cx="4321143" cy="119174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902483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e 14">
            <a:extLst>
              <a:ext uri="{FF2B5EF4-FFF2-40B4-BE49-F238E27FC236}">
                <a16:creationId xmlns:a16="http://schemas.microsoft.com/office/drawing/2014/main" id="{1B4C5D16-CBEA-4BA5-B957-12E13E4FA484}"/>
              </a:ext>
            </a:extLst>
          </p:cNvPr>
          <p:cNvGrpSpPr/>
          <p:nvPr/>
        </p:nvGrpSpPr>
        <p:grpSpPr>
          <a:xfrm>
            <a:off x="617927" y="77302"/>
            <a:ext cx="4321143" cy="3385174"/>
            <a:chOff x="141036" y="312082"/>
            <a:chExt cx="4321143" cy="3385174"/>
          </a:xfrm>
        </p:grpSpPr>
        <p:grpSp>
          <p:nvGrpSpPr>
            <p:cNvPr id="6" name="Groupe 5">
              <a:extLst>
                <a:ext uri="{FF2B5EF4-FFF2-40B4-BE49-F238E27FC236}">
                  <a16:creationId xmlns:a16="http://schemas.microsoft.com/office/drawing/2014/main" id="{52964B4E-923F-47BA-83D7-3141FF0E8FC6}"/>
                </a:ext>
              </a:extLst>
            </p:cNvPr>
            <p:cNvGrpSpPr/>
            <p:nvPr/>
          </p:nvGrpSpPr>
          <p:grpSpPr>
            <a:xfrm>
              <a:off x="278939" y="1619764"/>
              <a:ext cx="4141230" cy="2077492"/>
              <a:chOff x="278939" y="1619764"/>
              <a:chExt cx="4141230" cy="2077492"/>
            </a:xfrm>
          </p:grpSpPr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533CDC9B-A826-42B1-95C3-7A2128FF542A}"/>
                  </a:ext>
                </a:extLst>
              </p:cNvPr>
              <p:cNvSpPr txBox="1"/>
              <p:nvPr/>
            </p:nvSpPr>
            <p:spPr>
              <a:xfrm>
                <a:off x="278939" y="1619764"/>
                <a:ext cx="4045338" cy="20774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fr-F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Tout réparer - Gratuit et sans inscription</a:t>
                </a:r>
              </a:p>
              <a:p>
                <a:pPr algn="ctr"/>
                <a:r>
                  <a:rPr lang="fr-F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Mercredi 14h à 17h30</a:t>
                </a:r>
              </a:p>
              <a:p>
                <a:pPr algn="ctr"/>
                <a:r>
                  <a:rPr lang="fr-F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Samedi 9h30 à 12h</a:t>
                </a:r>
              </a:p>
              <a:p>
                <a:pPr algn="ctr"/>
                <a:endParaRPr lang="fr-FR" sz="105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fr-FR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Maison des Muses</a:t>
                </a:r>
              </a:p>
              <a:p>
                <a:r>
                  <a:rPr lang="fr-FR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7b avenue Saint Laurent</a:t>
                </a:r>
              </a:p>
              <a:p>
                <a:r>
                  <a:rPr lang="fr-FR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Orsay</a:t>
                </a:r>
              </a:p>
              <a:p>
                <a:endParaRPr lang="fr-FR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fr-FR" sz="1200" u="sng" dirty="0">
                    <a:latin typeface="Arial" panose="020B0604020202020204" pitchFamily="34" charset="0"/>
                    <a:cs typeface="Arial" panose="020B0604020202020204" pitchFamily="34" charset="0"/>
                  </a:rPr>
                  <a:t>https://www.repaircafe-orsay.org/</a:t>
                </a:r>
              </a:p>
              <a:p>
                <a:endParaRPr lang="fr-FR" sz="105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5" name="Image 4">
                <a:extLst>
                  <a:ext uri="{FF2B5EF4-FFF2-40B4-BE49-F238E27FC236}">
                    <a16:creationId xmlns:a16="http://schemas.microsoft.com/office/drawing/2014/main" id="{8BFCC1E9-F32E-4E6E-823F-0D82BD2F36F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299301" y="2439347"/>
                <a:ext cx="1120868" cy="1110294"/>
              </a:xfrm>
              <a:prstGeom prst="rect">
                <a:avLst/>
              </a:prstGeom>
            </p:spPr>
          </p:pic>
        </p:grpSp>
        <p:pic>
          <p:nvPicPr>
            <p:cNvPr id="14" name="Image 13">
              <a:extLst>
                <a:ext uri="{FF2B5EF4-FFF2-40B4-BE49-F238E27FC236}">
                  <a16:creationId xmlns:a16="http://schemas.microsoft.com/office/drawing/2014/main" id="{46FCC9A5-02D8-4AE4-917E-0BF07EB223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1036" y="312082"/>
              <a:ext cx="4321143" cy="1191744"/>
            </a:xfrm>
            <a:prstGeom prst="rect">
              <a:avLst/>
            </a:prstGeom>
          </p:spPr>
        </p:pic>
      </p:grp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3614557A-FE2F-442E-B71A-EF23AE0A4093}"/>
              </a:ext>
            </a:extLst>
          </p:cNvPr>
          <p:cNvGrpSpPr/>
          <p:nvPr/>
        </p:nvGrpSpPr>
        <p:grpSpPr>
          <a:xfrm>
            <a:off x="5104834" y="77302"/>
            <a:ext cx="4321143" cy="3442840"/>
            <a:chOff x="141036" y="312082"/>
            <a:chExt cx="4321143" cy="3442840"/>
          </a:xfrm>
        </p:grpSpPr>
        <p:grpSp>
          <p:nvGrpSpPr>
            <p:cNvPr id="18" name="Groupe 17">
              <a:extLst>
                <a:ext uri="{FF2B5EF4-FFF2-40B4-BE49-F238E27FC236}">
                  <a16:creationId xmlns:a16="http://schemas.microsoft.com/office/drawing/2014/main" id="{EE5B0327-9DC4-4BD4-9BD1-9F8442571334}"/>
                </a:ext>
              </a:extLst>
            </p:cNvPr>
            <p:cNvGrpSpPr/>
            <p:nvPr/>
          </p:nvGrpSpPr>
          <p:grpSpPr>
            <a:xfrm>
              <a:off x="278939" y="1677430"/>
              <a:ext cx="4141230" cy="2077492"/>
              <a:chOff x="278939" y="1677430"/>
              <a:chExt cx="4141230" cy="2077492"/>
            </a:xfrm>
          </p:grpSpPr>
          <p:sp>
            <p:nvSpPr>
              <p:cNvPr id="20" name="ZoneTexte 19">
                <a:extLst>
                  <a:ext uri="{FF2B5EF4-FFF2-40B4-BE49-F238E27FC236}">
                    <a16:creationId xmlns:a16="http://schemas.microsoft.com/office/drawing/2014/main" id="{31A7BE97-DE46-47B9-9D07-E1B66C700E53}"/>
                  </a:ext>
                </a:extLst>
              </p:cNvPr>
              <p:cNvSpPr txBox="1"/>
              <p:nvPr/>
            </p:nvSpPr>
            <p:spPr>
              <a:xfrm>
                <a:off x="278939" y="1677430"/>
                <a:ext cx="4045338" cy="20774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fr-F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Tout réparer - Gratuit et sans inscription</a:t>
                </a:r>
              </a:p>
              <a:p>
                <a:pPr algn="ctr"/>
                <a:r>
                  <a:rPr lang="fr-F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Mercredi 14h à 17h30</a:t>
                </a:r>
              </a:p>
              <a:p>
                <a:pPr algn="ctr"/>
                <a:r>
                  <a:rPr lang="fr-F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Samedi 9h30 à 12h</a:t>
                </a:r>
              </a:p>
              <a:p>
                <a:pPr algn="ctr"/>
                <a:endParaRPr lang="fr-FR" sz="105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fr-FR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Maison des Muses</a:t>
                </a:r>
              </a:p>
              <a:p>
                <a:r>
                  <a:rPr lang="fr-FR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7b avenue Saint Laurent</a:t>
                </a:r>
              </a:p>
              <a:p>
                <a:r>
                  <a:rPr lang="fr-FR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Orsay</a:t>
                </a:r>
              </a:p>
              <a:p>
                <a:endParaRPr lang="fr-FR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fr-FR" sz="1200" u="sng" dirty="0">
                    <a:latin typeface="Arial" panose="020B0604020202020204" pitchFamily="34" charset="0"/>
                    <a:cs typeface="Arial" panose="020B0604020202020204" pitchFamily="34" charset="0"/>
                  </a:rPr>
                  <a:t>https://www.repaircafe-orsay.org/</a:t>
                </a:r>
              </a:p>
              <a:p>
                <a:endParaRPr lang="fr-FR" sz="105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21" name="Image 20">
                <a:extLst>
                  <a:ext uri="{FF2B5EF4-FFF2-40B4-BE49-F238E27FC236}">
                    <a16:creationId xmlns:a16="http://schemas.microsoft.com/office/drawing/2014/main" id="{A515C917-CD99-4BBD-ABFF-BD57990ADD0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299301" y="2497012"/>
                <a:ext cx="1120868" cy="1110294"/>
              </a:xfrm>
              <a:prstGeom prst="rect">
                <a:avLst/>
              </a:prstGeom>
            </p:spPr>
          </p:pic>
        </p:grpSp>
        <p:pic>
          <p:nvPicPr>
            <p:cNvPr id="19" name="Image 18">
              <a:extLst>
                <a:ext uri="{FF2B5EF4-FFF2-40B4-BE49-F238E27FC236}">
                  <a16:creationId xmlns:a16="http://schemas.microsoft.com/office/drawing/2014/main" id="{B0FD1198-212C-4583-855E-1E9311EEC6F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1036" y="312082"/>
              <a:ext cx="4321143" cy="1191744"/>
            </a:xfrm>
            <a:prstGeom prst="rect">
              <a:avLst/>
            </a:prstGeom>
          </p:spPr>
        </p:pic>
      </p:grpSp>
      <p:grpSp>
        <p:nvGrpSpPr>
          <p:cNvPr id="22" name="Groupe 21">
            <a:extLst>
              <a:ext uri="{FF2B5EF4-FFF2-40B4-BE49-F238E27FC236}">
                <a16:creationId xmlns:a16="http://schemas.microsoft.com/office/drawing/2014/main" id="{66084732-273B-4006-B5BB-8445146A6FED}"/>
              </a:ext>
            </a:extLst>
          </p:cNvPr>
          <p:cNvGrpSpPr/>
          <p:nvPr/>
        </p:nvGrpSpPr>
        <p:grpSpPr>
          <a:xfrm>
            <a:off x="480023" y="3520142"/>
            <a:ext cx="4321143" cy="3442840"/>
            <a:chOff x="141036" y="312082"/>
            <a:chExt cx="4321143" cy="3442840"/>
          </a:xfrm>
        </p:grpSpPr>
        <p:grpSp>
          <p:nvGrpSpPr>
            <p:cNvPr id="23" name="Groupe 22">
              <a:extLst>
                <a:ext uri="{FF2B5EF4-FFF2-40B4-BE49-F238E27FC236}">
                  <a16:creationId xmlns:a16="http://schemas.microsoft.com/office/drawing/2014/main" id="{8D2D6E05-66A7-4932-9DA0-43C11C65EA6B}"/>
                </a:ext>
              </a:extLst>
            </p:cNvPr>
            <p:cNvGrpSpPr/>
            <p:nvPr/>
          </p:nvGrpSpPr>
          <p:grpSpPr>
            <a:xfrm>
              <a:off x="278939" y="1677430"/>
              <a:ext cx="4141230" cy="2077492"/>
              <a:chOff x="278939" y="1677430"/>
              <a:chExt cx="4141230" cy="2077492"/>
            </a:xfrm>
          </p:grpSpPr>
          <p:sp>
            <p:nvSpPr>
              <p:cNvPr id="25" name="ZoneTexte 24">
                <a:extLst>
                  <a:ext uri="{FF2B5EF4-FFF2-40B4-BE49-F238E27FC236}">
                    <a16:creationId xmlns:a16="http://schemas.microsoft.com/office/drawing/2014/main" id="{904AAE13-5CCD-4480-8E69-EFF9A3C207C7}"/>
                  </a:ext>
                </a:extLst>
              </p:cNvPr>
              <p:cNvSpPr txBox="1"/>
              <p:nvPr/>
            </p:nvSpPr>
            <p:spPr>
              <a:xfrm>
                <a:off x="278939" y="1677430"/>
                <a:ext cx="4045338" cy="20774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fr-F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Tout réparer - Gratuit et sans inscription</a:t>
                </a:r>
              </a:p>
              <a:p>
                <a:pPr algn="ctr"/>
                <a:r>
                  <a:rPr lang="fr-F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Mercredi 14h à 17h30</a:t>
                </a:r>
              </a:p>
              <a:p>
                <a:pPr algn="ctr"/>
                <a:r>
                  <a:rPr lang="fr-F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Samedi 9h30 à 12h</a:t>
                </a:r>
              </a:p>
              <a:p>
                <a:pPr algn="ctr"/>
                <a:endParaRPr lang="fr-FR" sz="105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fr-FR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Maison des Muses</a:t>
                </a:r>
              </a:p>
              <a:p>
                <a:r>
                  <a:rPr lang="fr-FR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7b avenue Saint Laurent</a:t>
                </a:r>
              </a:p>
              <a:p>
                <a:r>
                  <a:rPr lang="fr-FR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Orsay</a:t>
                </a:r>
              </a:p>
              <a:p>
                <a:endParaRPr lang="fr-FR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fr-FR" sz="1200" u="sng" dirty="0">
                    <a:latin typeface="Arial" panose="020B0604020202020204" pitchFamily="34" charset="0"/>
                    <a:cs typeface="Arial" panose="020B0604020202020204" pitchFamily="34" charset="0"/>
                  </a:rPr>
                  <a:t>https://www.repaircafe-orsay.org/</a:t>
                </a:r>
              </a:p>
              <a:p>
                <a:endParaRPr lang="fr-FR" sz="105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26" name="Image 25">
                <a:extLst>
                  <a:ext uri="{FF2B5EF4-FFF2-40B4-BE49-F238E27FC236}">
                    <a16:creationId xmlns:a16="http://schemas.microsoft.com/office/drawing/2014/main" id="{E54E5712-3EC6-437B-A799-09138E41A65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299301" y="2398159"/>
                <a:ext cx="1120868" cy="1110294"/>
              </a:xfrm>
              <a:prstGeom prst="rect">
                <a:avLst/>
              </a:prstGeom>
            </p:spPr>
          </p:pic>
        </p:grpSp>
        <p:pic>
          <p:nvPicPr>
            <p:cNvPr id="24" name="Image 23">
              <a:extLst>
                <a:ext uri="{FF2B5EF4-FFF2-40B4-BE49-F238E27FC236}">
                  <a16:creationId xmlns:a16="http://schemas.microsoft.com/office/drawing/2014/main" id="{17F2D286-1BEE-4893-A8E6-BEB6A096D67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1036" y="312082"/>
              <a:ext cx="4321143" cy="1191744"/>
            </a:xfrm>
            <a:prstGeom prst="rect">
              <a:avLst/>
            </a:prstGeom>
          </p:spPr>
        </p:pic>
      </p:grpSp>
      <p:grpSp>
        <p:nvGrpSpPr>
          <p:cNvPr id="27" name="Groupe 26">
            <a:extLst>
              <a:ext uri="{FF2B5EF4-FFF2-40B4-BE49-F238E27FC236}">
                <a16:creationId xmlns:a16="http://schemas.microsoft.com/office/drawing/2014/main" id="{DC91C39D-9EA2-445F-B7DA-BEA3B3C2299C}"/>
              </a:ext>
            </a:extLst>
          </p:cNvPr>
          <p:cNvGrpSpPr/>
          <p:nvPr/>
        </p:nvGrpSpPr>
        <p:grpSpPr>
          <a:xfrm>
            <a:off x="4966932" y="3617340"/>
            <a:ext cx="4321143" cy="3442840"/>
            <a:chOff x="141036" y="312082"/>
            <a:chExt cx="4321143" cy="3442840"/>
          </a:xfrm>
        </p:grpSpPr>
        <p:grpSp>
          <p:nvGrpSpPr>
            <p:cNvPr id="28" name="Groupe 27">
              <a:extLst>
                <a:ext uri="{FF2B5EF4-FFF2-40B4-BE49-F238E27FC236}">
                  <a16:creationId xmlns:a16="http://schemas.microsoft.com/office/drawing/2014/main" id="{ADCECF2D-BAFB-4876-B7F4-020FB5979141}"/>
                </a:ext>
              </a:extLst>
            </p:cNvPr>
            <p:cNvGrpSpPr/>
            <p:nvPr/>
          </p:nvGrpSpPr>
          <p:grpSpPr>
            <a:xfrm>
              <a:off x="278939" y="1677430"/>
              <a:ext cx="4141230" cy="2077492"/>
              <a:chOff x="278939" y="1677430"/>
              <a:chExt cx="4141230" cy="2077492"/>
            </a:xfrm>
          </p:grpSpPr>
          <p:sp>
            <p:nvSpPr>
              <p:cNvPr id="30" name="ZoneTexte 29">
                <a:extLst>
                  <a:ext uri="{FF2B5EF4-FFF2-40B4-BE49-F238E27FC236}">
                    <a16:creationId xmlns:a16="http://schemas.microsoft.com/office/drawing/2014/main" id="{01407B31-4C22-4E50-B9AC-9A54258ED327}"/>
                  </a:ext>
                </a:extLst>
              </p:cNvPr>
              <p:cNvSpPr txBox="1"/>
              <p:nvPr/>
            </p:nvSpPr>
            <p:spPr>
              <a:xfrm>
                <a:off x="278939" y="1677430"/>
                <a:ext cx="4045338" cy="20774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fr-F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Tout réparer - Gratuit et sans inscription</a:t>
                </a:r>
              </a:p>
              <a:p>
                <a:pPr algn="ctr"/>
                <a:r>
                  <a:rPr lang="fr-F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Mercredi 14h à 17h30</a:t>
                </a:r>
              </a:p>
              <a:p>
                <a:pPr algn="ctr"/>
                <a:r>
                  <a:rPr lang="fr-F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Samedi 9h30 à 12h</a:t>
                </a:r>
              </a:p>
              <a:p>
                <a:pPr algn="ctr"/>
                <a:endParaRPr lang="fr-FR" sz="105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fr-FR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Maison des Muses</a:t>
                </a:r>
              </a:p>
              <a:p>
                <a:r>
                  <a:rPr lang="fr-FR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7b avenue Saint Laurent</a:t>
                </a:r>
              </a:p>
              <a:p>
                <a:r>
                  <a:rPr lang="fr-FR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Orsay</a:t>
                </a:r>
              </a:p>
              <a:p>
                <a:endParaRPr lang="fr-FR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fr-FR" sz="1200" u="sng" dirty="0">
                    <a:latin typeface="Arial" panose="020B0604020202020204" pitchFamily="34" charset="0"/>
                    <a:cs typeface="Arial" panose="020B0604020202020204" pitchFamily="34" charset="0"/>
                  </a:rPr>
                  <a:t>https://www.repaircafe-orsay.org/</a:t>
                </a:r>
              </a:p>
              <a:p>
                <a:endParaRPr lang="fr-FR" sz="105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31" name="Image 30">
                <a:extLst>
                  <a:ext uri="{FF2B5EF4-FFF2-40B4-BE49-F238E27FC236}">
                    <a16:creationId xmlns:a16="http://schemas.microsoft.com/office/drawing/2014/main" id="{3B62D2DC-7930-4EE9-9B2D-3FF38D96D88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299301" y="2365208"/>
                <a:ext cx="1120868" cy="1110294"/>
              </a:xfrm>
              <a:prstGeom prst="rect">
                <a:avLst/>
              </a:prstGeom>
            </p:spPr>
          </p:pic>
        </p:grpSp>
        <p:pic>
          <p:nvPicPr>
            <p:cNvPr id="29" name="Image 28">
              <a:extLst>
                <a:ext uri="{FF2B5EF4-FFF2-40B4-BE49-F238E27FC236}">
                  <a16:creationId xmlns:a16="http://schemas.microsoft.com/office/drawing/2014/main" id="{760BFDF0-43F5-4DC9-8341-77FA50F58F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1036" y="312082"/>
              <a:ext cx="4321143" cy="119174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654820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au 2">
            <a:extLst>
              <a:ext uri="{FF2B5EF4-FFF2-40B4-BE49-F238E27FC236}">
                <a16:creationId xmlns:a16="http://schemas.microsoft.com/office/drawing/2014/main" id="{98A8AC20-8F3A-494F-AAC3-CB51106942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4958087"/>
              </p:ext>
            </p:extLst>
          </p:nvPr>
        </p:nvGraphicFramePr>
        <p:xfrm>
          <a:off x="930876" y="271848"/>
          <a:ext cx="8641500" cy="611247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83740">
                  <a:extLst>
                    <a:ext uri="{9D8B030D-6E8A-4147-A177-3AD203B41FA5}">
                      <a16:colId xmlns:a16="http://schemas.microsoft.com/office/drawing/2014/main" val="680109918"/>
                    </a:ext>
                  </a:extLst>
                </a:gridCol>
                <a:gridCol w="468460">
                  <a:extLst>
                    <a:ext uri="{9D8B030D-6E8A-4147-A177-3AD203B41FA5}">
                      <a16:colId xmlns:a16="http://schemas.microsoft.com/office/drawing/2014/main" val="3510495174"/>
                    </a:ext>
                  </a:extLst>
                </a:gridCol>
                <a:gridCol w="576100">
                  <a:extLst>
                    <a:ext uri="{9D8B030D-6E8A-4147-A177-3AD203B41FA5}">
                      <a16:colId xmlns:a16="http://schemas.microsoft.com/office/drawing/2014/main" val="1127083199"/>
                    </a:ext>
                  </a:extLst>
                </a:gridCol>
                <a:gridCol w="576100">
                  <a:extLst>
                    <a:ext uri="{9D8B030D-6E8A-4147-A177-3AD203B41FA5}">
                      <a16:colId xmlns:a16="http://schemas.microsoft.com/office/drawing/2014/main" val="1786957389"/>
                    </a:ext>
                  </a:extLst>
                </a:gridCol>
                <a:gridCol w="576100">
                  <a:extLst>
                    <a:ext uri="{9D8B030D-6E8A-4147-A177-3AD203B41FA5}">
                      <a16:colId xmlns:a16="http://schemas.microsoft.com/office/drawing/2014/main" val="569838257"/>
                    </a:ext>
                  </a:extLst>
                </a:gridCol>
                <a:gridCol w="576100">
                  <a:extLst>
                    <a:ext uri="{9D8B030D-6E8A-4147-A177-3AD203B41FA5}">
                      <a16:colId xmlns:a16="http://schemas.microsoft.com/office/drawing/2014/main" val="437437545"/>
                    </a:ext>
                  </a:extLst>
                </a:gridCol>
                <a:gridCol w="576100">
                  <a:extLst>
                    <a:ext uri="{9D8B030D-6E8A-4147-A177-3AD203B41FA5}">
                      <a16:colId xmlns:a16="http://schemas.microsoft.com/office/drawing/2014/main" val="3818411711"/>
                    </a:ext>
                  </a:extLst>
                </a:gridCol>
                <a:gridCol w="576100">
                  <a:extLst>
                    <a:ext uri="{9D8B030D-6E8A-4147-A177-3AD203B41FA5}">
                      <a16:colId xmlns:a16="http://schemas.microsoft.com/office/drawing/2014/main" val="598136134"/>
                    </a:ext>
                  </a:extLst>
                </a:gridCol>
                <a:gridCol w="576100">
                  <a:extLst>
                    <a:ext uri="{9D8B030D-6E8A-4147-A177-3AD203B41FA5}">
                      <a16:colId xmlns:a16="http://schemas.microsoft.com/office/drawing/2014/main" val="3204244311"/>
                    </a:ext>
                  </a:extLst>
                </a:gridCol>
                <a:gridCol w="576100">
                  <a:extLst>
                    <a:ext uri="{9D8B030D-6E8A-4147-A177-3AD203B41FA5}">
                      <a16:colId xmlns:a16="http://schemas.microsoft.com/office/drawing/2014/main" val="1113710236"/>
                    </a:ext>
                  </a:extLst>
                </a:gridCol>
                <a:gridCol w="576100">
                  <a:extLst>
                    <a:ext uri="{9D8B030D-6E8A-4147-A177-3AD203B41FA5}">
                      <a16:colId xmlns:a16="http://schemas.microsoft.com/office/drawing/2014/main" val="20403675"/>
                    </a:ext>
                  </a:extLst>
                </a:gridCol>
                <a:gridCol w="576100">
                  <a:extLst>
                    <a:ext uri="{9D8B030D-6E8A-4147-A177-3AD203B41FA5}">
                      <a16:colId xmlns:a16="http://schemas.microsoft.com/office/drawing/2014/main" val="1437795089"/>
                    </a:ext>
                  </a:extLst>
                </a:gridCol>
                <a:gridCol w="576100">
                  <a:extLst>
                    <a:ext uri="{9D8B030D-6E8A-4147-A177-3AD203B41FA5}">
                      <a16:colId xmlns:a16="http://schemas.microsoft.com/office/drawing/2014/main" val="1916908522"/>
                    </a:ext>
                  </a:extLst>
                </a:gridCol>
                <a:gridCol w="576100">
                  <a:extLst>
                    <a:ext uri="{9D8B030D-6E8A-4147-A177-3AD203B41FA5}">
                      <a16:colId xmlns:a16="http://schemas.microsoft.com/office/drawing/2014/main" val="372142466"/>
                    </a:ext>
                  </a:extLst>
                </a:gridCol>
                <a:gridCol w="576100">
                  <a:extLst>
                    <a:ext uri="{9D8B030D-6E8A-4147-A177-3AD203B41FA5}">
                      <a16:colId xmlns:a16="http://schemas.microsoft.com/office/drawing/2014/main" val="2755969763"/>
                    </a:ext>
                  </a:extLst>
                </a:gridCol>
              </a:tblGrid>
              <a:tr h="2037492">
                <a:tc>
                  <a:txBody>
                    <a:bodyPr/>
                    <a:lstStyle/>
                    <a:p>
                      <a:r>
                        <a:rPr lang="fr-FR" b="0" dirty="0">
                          <a:solidFill>
                            <a:schemeClr val="tx1"/>
                          </a:solidFill>
                        </a:rPr>
                        <a:t>Domaine d’aide  pour le RCO</a:t>
                      </a:r>
                    </a:p>
                  </a:txBody>
                  <a:tcPr vert="vert27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8632139"/>
                  </a:ext>
                </a:extLst>
              </a:tr>
              <a:tr h="2037492"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chemeClr val="tx1"/>
                          </a:solidFill>
                        </a:rPr>
                        <a:t>coordonnées</a:t>
                      </a:r>
                    </a:p>
                  </a:txBody>
                  <a:tcPr vert="vert27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2385072"/>
                  </a:ext>
                </a:extLst>
              </a:tr>
              <a:tr h="2037492"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chemeClr val="tx1"/>
                          </a:solidFill>
                        </a:rPr>
                        <a:t>Nom, prénom</a:t>
                      </a:r>
                    </a:p>
                  </a:txBody>
                  <a:tcPr vert="vert27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0425252"/>
                  </a:ext>
                </a:extLst>
              </a:tr>
            </a:tbl>
          </a:graphicData>
        </a:graphic>
      </p:graphicFrame>
      <p:sp>
        <p:nvSpPr>
          <p:cNvPr id="4" name="ZoneTexte 3">
            <a:extLst>
              <a:ext uri="{FF2B5EF4-FFF2-40B4-BE49-F238E27FC236}">
                <a16:creationId xmlns:a16="http://schemas.microsoft.com/office/drawing/2014/main" id="{010E2603-2161-4C8B-B488-DB5CD6126BF6}"/>
              </a:ext>
            </a:extLst>
          </p:cNvPr>
          <p:cNvSpPr txBox="1"/>
          <p:nvPr/>
        </p:nvSpPr>
        <p:spPr>
          <a:xfrm>
            <a:off x="333617" y="1971037"/>
            <a:ext cx="461665" cy="2915926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fr-FR" dirty="0"/>
              <a:t>Vous souhaitez aider le RCO ? </a:t>
            </a:r>
          </a:p>
        </p:txBody>
      </p:sp>
    </p:spTree>
    <p:extLst>
      <p:ext uri="{BB962C8B-B14F-4D97-AF65-F5344CB8AC3E}">
        <p14:creationId xmlns:p14="http://schemas.microsoft.com/office/powerpoint/2010/main" val="273193452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</TotalTime>
  <Words>801</Words>
  <Application>Microsoft Office PowerPoint</Application>
  <PresentationFormat>Format A4 (210 x 297 mm)</PresentationFormat>
  <Paragraphs>208</Paragraphs>
  <Slides>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Curlz MT</vt:lpstr>
      <vt:lpstr>system-ui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MOUTARDE Marianne</dc:creator>
  <cp:lastModifiedBy>MOUTARDE Marianne</cp:lastModifiedBy>
  <cp:revision>4</cp:revision>
  <dcterms:created xsi:type="dcterms:W3CDTF">2025-09-03T09:03:10Z</dcterms:created>
  <dcterms:modified xsi:type="dcterms:W3CDTF">2025-09-03T09:28:34Z</dcterms:modified>
</cp:coreProperties>
</file>